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LangChain gets its name from linking blocks into a chain. This deck explains it from scratch. Each component gets the same treatment: what it is in one sentence, a real-life analogy, key points, a tiny code example and when to use it.
The linked blocks on the right are the main idea of LangChain: small blocks (prompt, model, tools, data) that you connect together like Lego.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Four parts, moving from simple to advanced. Part 1 gives the big picture. Part 2 covers the blocks that every LangChain app uses. Part 3 is about connecting the AI to your own documents (RAG). Part 4 is about letting the AI take actions with tools and agents, and about the extra tools around LangChain (LangGraph, MCP, LangSmith).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LANGCHAIN. Keep it simple: it is a toolkit (a Python library, also available for JavaScript) for building AI apps.
Three selling points: (1) a standard interface so switching from one AI provider to another is a one-line change, (2) ready-made blocks so you do not rebuild common features, (3) lots of integrations.
Lego analogy: a prompt template is one brick, a model is another, a parser is another - you snap them together to make an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LANGCHAIN. A model on its own only answers text with text. Real apps need much more: prompts, memory, your documents, tools, and good debugging.
Left = doing it all by hand. Right = LangChain's building blocks. You can still go without it for tiny scripts - it pays off as soon as the app has more than one moving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PICTURE. Show this slide again at the end.
Top row is the main chain: the user's question goes into a prompt template, the model produces text, a parser turns it into the format we want.
The cards below plug into the chain: memory (earlier messages), your data (documents found by a retriever), tools (things the AI can do). LangSmith sits beside everything and records what happens.
An agent is the same idea but the model decides when to use the tools and loops until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LangChain is split into several small packages, so you only install what you use.
- langchain-core: base building blocks.
- langchain: the high-level helpers, like init_chat_model and create_agent.
- Partner packages: one per AI provider (langchain-openai, langchain-anthropic, langchain-aws, langchain-cohere, langchain-ollama).
- langchain-community: loaders and other integrations.
- langchain-text-splitters: chunking text.
- LangGraph: the engine for building agents as graphs.
- LangSmith: a hosted tool for tracing and testing.
- langchain-classic: old-style chains and memory, kept so older tutorials still run.
Tip: if an import fails, the usual cause is a missing package from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The model is the brain. In LangChain, 'chat model' is the standard type: it takes a list of messages and returns an AI message.
init_chat_model is the easiest entry point: give it 'provider:model-name' and it returns a ready object. Everything else in LangChain works the same whichever model you pick.
Key method: .invoke() sends a request and waits for the full answer. The text is in reply.content.
Model names change often, so check your provider's docs for current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A conversation is just a list of messages. Four types: system (instructions to the AI), human (the user), AI (the model's reply) and tool (the result of a tool call).
The system message is where you say 'You are a helpful teacher' or 'Answer in one line'. The model reads the whole list every time, which is also how memory works: you simply keep adding messages to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TEMPLATES. Instead of building strings with f-strings, a template holds the structure and you pass values in. This makes prompts reusable and easier to test and change.
In the example, {role} and {question} are the blanks. Calling .invoke with a dictionary fills them and returns ready-to-send messages.
Templates are also the first block in most chains.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PARSERS. A model returns a message object full of extras. A parser pulls out what you actually need.
StrOutputParser: just the text. with_structured_output(Person): the model is asked to fill in fields (name, age) and you get back a real Person object - great for extracting data from text.
Pydantic is a Python library that defines the fields and their types and validates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CHAINS AND LCEL. This is the heart of modern LangChain.
A Runnable is any block with .invoke(). Because they all share the same methods, you can join them with the pipe symbol: prompt | llm | parser.
Three ways to run a chain: .invoke() = one answer, .stream() = get the answer piece by piece as it is written, .batch() = run many inputs at once.
Older tutorials use classes like LLMChain. The pipe is the modern replacement - shorter and more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AI models have no memory of their own. Every call starts fresh. Memory simply means: store the earlier messages and send them along again.
In current LangChain, memory is done with a checkpointer from LangGraph. InMemorySaver keeps chats in RAM (lost when the program stops); for real apps use a database-backed checkpointer.
thread_id identifies a conversation. Same thread_id = same memory. New thread_id = a fresh chat.
Older tutorials use ConversationBufferMemory; that now lives in langchain-classic.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LOADERS. The first step of RAG. A loader opens a file or a web page and returns a list of Document objects.
Each Document has page_content (the text) and metadata (where it came from, like the file name or page number). Metadata is useful later to show sources.
PyPDFLoader needs the pypdf package installed. There are loaders for many other formats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SPLITTERS. Documents are usually too long to hand to a model in one piece, and searching small chunks gives better matches.
RecursiveCharacterTextSplitter is the standard choice: it tries to split at paragraphs first, then sentences, then words, so chunks stay readable.
chunk_size is the target length in characters; chunk_overlap repeats a bit between neighbours so a sentence on the boundary is not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An embedding model converts text into a vector - a long list of numbers. The key property: texts with similar meaning get similar vectors.
That is how a search for 'time off' can find a paragraph about 'leave policy' even though the words differ.
The embedding model is separate from the chat model. Providers each offer one; Ollama gives free local embedding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STORES. After splitting and embedding, we need somewhere to keep the vectors and a fast way to find the nearest ones. That is a vector store.
InMemoryVectorStore lives in RAM - perfect for demos. For real projects, pick a persistent one (Chroma, FAISS, Pinecone, pgvector and more).
similarity_search(question, k=2) returns the 2 chunks whose meaning is closest to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RETRIEVERS. A retriever is the friendly front door to your search: question in, relevant documents out.
Because it is a Runnable, it fits into the pipe like any other block. A retriever does not have to use a vector store (it can use keyword search or a web API), but vector-store retrievers are the most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END TO END. Part A is done once (or whenever documents change): load, split, embed, store.
Part B happens for every question: retrieve the most relevant chunks, put them in the prompt together with the question, and let the model answer using only that context.
Why it helps: the model gets fresh and private information it was never trained on, and it is less likely to invent facts because the answer is grounded in real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 tool is a normal Python function with a @tool decorator. LangChain reads the function name, docstring and type hints and builds the tool definition the AI sees (the same idea as MCP tools).
Important: the AI never runs the function itself. It asks to use a tool with some inputs, your code runs it, and the result goes back to the AI.
A clear docstring is the single most important thing: it is how the model decides when to use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 chain always follows the same steps. An agent decides its own steps: it can call a tool, look at the result, call another tool, and finally answer.
create_agent is the modern, simple way to build one: give it a model, a list of tools and a system prompt. Under the hood it uses LangGraph.
Older tutorials use initialize_agent or AgentExecutor - those are the old way and now live in langchain-classic.
Good practice: cap the number of steps so an agent can never loop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create_agent is built on LangGraph. When you want more control, you draw the graph yourself.
State is shared data; nodes are Python functions; edges connect nodes; conditional edges choose the next node based on the state (for example: did the model ask for a tool?).
This is exactly the graph we built in the workshop demo. LangGraph also supports memory (checkpointers), human approval steps and streaming.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 MCP. MCP is a standard way to share tools. The langchain-mcp-adapters package connects to MCP servers and converts their tools into normal LangChain tools.
Then you pass them to create_agent or a LangGraph ToolNode exactly like a tool you wrote yourself. In the earlier MCP lessons, the mcp-use library did a similar job with its MCPAgent.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LANGSMITH. Agents make many hidden steps. LangSmith records each one so you can open a run and see exactly what the model saw and did.
It is a hosted service from the LangChain team with a free tier (check their site for current limits). Turning it on needs no code changes - just environment variables.
It is optional, but very helpful once your app does more than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VS NEW. This slide saves a lot of confusion. Many tutorials online are from earlier LangChain versions and use LLMChain, ConversationBufferMemory and initialize_agent.
Those still exist in the langchain-classic package, but new code should use the pipe (LCEL), create_agent, checkpointers for memory and init_chat_model.
Your course requirements include langchain-classic, which is why you may see the old classes in some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 SHEET. A quick lookup table. When someone asks 'how do I do X in LangChain', this tells them which component to reach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TIPS. Six habits that save beginners a lot of time. The most common problems are unclear tool descriptions, leaked API keys and following outdated tutorials.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Go back to the big-picture slide and trace the flow once more. Then point out the next step: build a tiny chain, then add a retriever, then add a tool.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1F"/>
        </a:solidFill>
      </p:bgPr>
    </p:bg>
    <p:spTree>
      <p:nvGrpSpPr>
        <p:cNvPr id="1" name=""/>
        <p:cNvGrpSpPr/>
        <p:nvPr/>
      </p:nvGrpSpPr>
      <p:grpSpPr>
        <a:xfrm>
          <a:off x="0" y="0"/>
          <a:ext cx="0" cy="0"/>
          <a:chOff x="0" y="0"/>
          <a:chExt cx="0" cy="0"/>
        </a:xfrm>
      </p:grpSpPr>
      <p:sp>
        <p:nvSpPr>
          <p:cNvPr id="2" name="Text 0"/>
          <p:cNvSpPr txBox="1"/>
          <p:nvPr/>
        </p:nvSpPr>
        <p:spPr>
          <a:xfrm>
            <a:off x="640080" y="822960"/>
            <a:ext cx="4937760" cy="274320"/>
          </a:xfrm>
          <a:prstGeom prst="rect">
            <a:avLst/>
          </a:prstGeom>
          <a:noFill/>
          <a:ln/>
        </p:spPr>
        <p:txBody>
          <a:bodyPr wrap="square" lIns="0" tIns="0" rIns="0" bIns="0" rtlCol="0" anchor="t"/>
          <a:lstStyle/>
          <a:p>
            <a:pPr indent="0" marL="0">
              <a:buNone/>
            </a:pPr>
            <a:r>
              <a:rPr lang="en-US" sz="1200" b="1" spc="300" kern="0" dirty="0">
                <a:solidFill>
                  <a:srgbClr val="34D399"/>
                </a:solidFill>
                <a:latin typeface="Calibri" pitchFamily="34" charset="0"/>
                <a:ea typeface="Calibri" pitchFamily="34" charset="-122"/>
                <a:cs typeface="Calibri" pitchFamily="34" charset="-120"/>
              </a:rPr>
              <a:t>A CHAIN OF BUILDING BLOCKS</a:t>
            </a:r>
            <a:endParaRPr lang="en-US" sz="1200" dirty="0"/>
          </a:p>
        </p:txBody>
      </p:sp>
      <p:sp>
        <p:nvSpPr>
          <p:cNvPr id="3" name="Text 1"/>
          <p:cNvSpPr txBox="1"/>
          <p:nvPr/>
        </p:nvSpPr>
        <p:spPr>
          <a:xfrm>
            <a:off x="640080" y="1188720"/>
            <a:ext cx="51206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LangChain</a:t>
            </a:r>
            <a:endParaRPr lang="en-US" sz="5400" dirty="0"/>
          </a:p>
        </p:txBody>
      </p:sp>
      <p:sp>
        <p:nvSpPr>
          <p:cNvPr id="4" name="Text 2"/>
          <p:cNvSpPr txBox="1"/>
          <p:nvPr/>
        </p:nvSpPr>
        <p:spPr>
          <a:xfrm>
            <a:off x="640080" y="2194560"/>
            <a:ext cx="4937760" cy="1051560"/>
          </a:xfrm>
          <a:prstGeom prst="rect">
            <a:avLst/>
          </a:prstGeom>
          <a:noFill/>
          <a:ln/>
        </p:spPr>
        <p:txBody>
          <a:bodyPr wrap="square" lIns="0" tIns="0" rIns="0" bIns="0" rtlCol="0" anchor="t"/>
          <a:lstStyle/>
          <a:p>
            <a:pPr indent="0" marL="0">
              <a:buNone/>
            </a:pPr>
            <a:r>
              <a:rPr lang="en-US" sz="2600" b="1" dirty="0">
                <a:solidFill>
                  <a:srgbClr val="34D399"/>
                </a:solidFill>
                <a:latin typeface="Cambria" pitchFamily="34" charset="0"/>
                <a:ea typeface="Cambria" pitchFamily="34" charset="-122"/>
                <a:cs typeface="Cambria" pitchFamily="34" charset="-120"/>
              </a:rPr>
              <a:t>Link the blocks.</a:t>
            </a:r>
            <a:endParaRPr lang="en-US" sz="2600" dirty="0"/>
          </a:p>
          <a:p>
            <a:pPr indent="0" marL="0">
              <a:buNone/>
            </a:pPr>
            <a:r>
              <a:rPr lang="en-US" sz="2600" b="1" dirty="0">
                <a:solidFill>
                  <a:srgbClr val="34D399"/>
                </a:solidFill>
                <a:latin typeface="Cambria" pitchFamily="34" charset="0"/>
                <a:ea typeface="Cambria" pitchFamily="34" charset="-122"/>
                <a:cs typeface="Cambria" pitchFamily="34" charset="-120"/>
              </a:rPr>
              <a:t>Build your AI app.</a:t>
            </a:r>
            <a:endParaRPr lang="en-US" sz="2600" dirty="0"/>
          </a:p>
        </p:txBody>
      </p:sp>
      <p:sp>
        <p:nvSpPr>
          <p:cNvPr id="5" name="Text 3"/>
          <p:cNvSpPr txBox="1"/>
          <p:nvPr/>
        </p:nvSpPr>
        <p:spPr>
          <a:xfrm>
            <a:off x="640080" y="3429000"/>
            <a:ext cx="4480560" cy="82296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Like links in a chain, every piece does one job: prompt, model, data, tools. Connect them and you have an app.</a:t>
            </a:r>
            <a:endParaRPr lang="en-US" sz="1500" dirty="0"/>
          </a:p>
        </p:txBody>
      </p:sp>
      <p:sp>
        <p:nvSpPr>
          <p:cNvPr id="6" name="Shape 4"/>
          <p:cNvSpPr/>
          <p:nvPr/>
        </p:nvSpPr>
        <p:spPr>
          <a:xfrm>
            <a:off x="6263640" y="1325880"/>
            <a:ext cx="1188720" cy="822960"/>
          </a:xfrm>
          <a:prstGeom prst="line">
            <a:avLst/>
          </a:prstGeom>
          <a:noFill/>
          <a:ln w="31750">
            <a:solidFill>
              <a:srgbClr val="1F4A57"/>
            </a:solidFill>
            <a:prstDash val="solid"/>
          </a:ln>
        </p:spPr>
      </p:sp>
      <p:sp>
        <p:nvSpPr>
          <p:cNvPr id="7" name="Shape 5"/>
          <p:cNvSpPr/>
          <p:nvPr/>
        </p:nvSpPr>
        <p:spPr>
          <a:xfrm flipV="1">
            <a:off x="6263640" y="2148840"/>
            <a:ext cx="1188720" cy="822960"/>
          </a:xfrm>
          <a:prstGeom prst="line">
            <a:avLst/>
          </a:prstGeom>
          <a:noFill/>
          <a:ln w="31750">
            <a:solidFill>
              <a:srgbClr val="1F4A57"/>
            </a:solidFill>
            <a:prstDash val="solid"/>
          </a:ln>
        </p:spPr>
      </p:sp>
      <p:sp>
        <p:nvSpPr>
          <p:cNvPr id="8" name="Shape 6"/>
          <p:cNvSpPr/>
          <p:nvPr/>
        </p:nvSpPr>
        <p:spPr>
          <a:xfrm>
            <a:off x="6263640" y="2971800"/>
            <a:ext cx="1188720" cy="822960"/>
          </a:xfrm>
          <a:prstGeom prst="line">
            <a:avLst/>
          </a:prstGeom>
          <a:noFill/>
          <a:ln w="31750">
            <a:solidFill>
              <a:srgbClr val="1F4A57"/>
            </a:solidFill>
            <a:prstDash val="solid"/>
          </a:ln>
        </p:spPr>
      </p:sp>
      <p:sp>
        <p:nvSpPr>
          <p:cNvPr id="9" name="Shape 7"/>
          <p:cNvSpPr/>
          <p:nvPr/>
        </p:nvSpPr>
        <p:spPr>
          <a:xfrm>
            <a:off x="5852160" y="914400"/>
            <a:ext cx="822960" cy="822960"/>
          </a:xfrm>
          <a:prstGeom prst="roundRect">
            <a:avLst>
              <a:gd name="adj" fmla="val 16667"/>
            </a:avLst>
          </a:prstGeom>
          <a:solidFill>
            <a:srgbClr val="12303A"/>
          </a:solidFill>
          <a:ln w="19050">
            <a:solidFill>
              <a:srgbClr val="34D399"/>
            </a:solidFill>
            <a:prstDash val="solid"/>
          </a:ln>
        </p:spPr>
      </p:sp>
      <p:pic>
        <p:nvPicPr>
          <p:cNvPr id="10" name="Image 0" descr="preencoded.png">    </p:cNvPr>
          <p:cNvPicPr>
            <a:picLocks noChangeAspect="1"/>
          </p:cNvPicPr>
          <p:nvPr/>
        </p:nvPicPr>
        <p:blipFill>
          <a:blip r:embed="rId1"/>
          <a:stretch>
            <a:fillRect/>
          </a:stretch>
        </p:blipFill>
        <p:spPr>
          <a:xfrm>
            <a:off x="6053328" y="1115568"/>
            <a:ext cx="420624" cy="420624"/>
          </a:xfrm>
          <a:prstGeom prst="rect">
            <a:avLst/>
          </a:prstGeom>
        </p:spPr>
      </p:pic>
      <p:sp>
        <p:nvSpPr>
          <p:cNvPr id="11" name="Shape 8"/>
          <p:cNvSpPr/>
          <p:nvPr/>
        </p:nvSpPr>
        <p:spPr>
          <a:xfrm>
            <a:off x="7040880" y="1737360"/>
            <a:ext cx="822960" cy="822960"/>
          </a:xfrm>
          <a:prstGeom prst="roundRect">
            <a:avLst>
              <a:gd name="adj" fmla="val 16667"/>
            </a:avLst>
          </a:prstGeom>
          <a:solidFill>
            <a:srgbClr val="12303A"/>
          </a:solidFill>
          <a:ln w="19050">
            <a:solidFill>
              <a:srgbClr val="34D399"/>
            </a:solidFill>
            <a:prstDash val="solid"/>
          </a:ln>
        </p:spPr>
      </p:sp>
      <p:pic>
        <p:nvPicPr>
          <p:cNvPr id="12" name="Image 1" descr="preencoded.png">    </p:cNvPr>
          <p:cNvPicPr>
            <a:picLocks noChangeAspect="1"/>
          </p:cNvPicPr>
          <p:nvPr/>
        </p:nvPicPr>
        <p:blipFill>
          <a:blip r:embed="rId2"/>
          <a:stretch>
            <a:fillRect/>
          </a:stretch>
        </p:blipFill>
        <p:spPr>
          <a:xfrm>
            <a:off x="7242048" y="1938528"/>
            <a:ext cx="420624" cy="420624"/>
          </a:xfrm>
          <a:prstGeom prst="rect">
            <a:avLst/>
          </a:prstGeom>
        </p:spPr>
      </p:pic>
      <p:sp>
        <p:nvSpPr>
          <p:cNvPr id="13" name="Shape 9"/>
          <p:cNvSpPr/>
          <p:nvPr/>
        </p:nvSpPr>
        <p:spPr>
          <a:xfrm>
            <a:off x="5852160" y="2560320"/>
            <a:ext cx="822960" cy="822960"/>
          </a:xfrm>
          <a:prstGeom prst="roundRect">
            <a:avLst>
              <a:gd name="adj" fmla="val 16667"/>
            </a:avLst>
          </a:prstGeom>
          <a:solidFill>
            <a:srgbClr val="12303A"/>
          </a:solidFill>
          <a:ln w="19050">
            <a:solidFill>
              <a:srgbClr val="34D399"/>
            </a:solidFill>
            <a:prstDash val="solid"/>
          </a:ln>
        </p:spPr>
      </p:sp>
      <p:pic>
        <p:nvPicPr>
          <p:cNvPr id="14" name="Image 2" descr="preencoded.png">    </p:cNvPr>
          <p:cNvPicPr>
            <a:picLocks noChangeAspect="1"/>
          </p:cNvPicPr>
          <p:nvPr/>
        </p:nvPicPr>
        <p:blipFill>
          <a:blip r:embed="rId3"/>
          <a:stretch>
            <a:fillRect/>
          </a:stretch>
        </p:blipFill>
        <p:spPr>
          <a:xfrm>
            <a:off x="6053328" y="2761488"/>
            <a:ext cx="420624" cy="420624"/>
          </a:xfrm>
          <a:prstGeom prst="rect">
            <a:avLst/>
          </a:prstGeom>
        </p:spPr>
      </p:pic>
      <p:sp>
        <p:nvSpPr>
          <p:cNvPr id="15" name="Shape 10"/>
          <p:cNvSpPr/>
          <p:nvPr/>
        </p:nvSpPr>
        <p:spPr>
          <a:xfrm>
            <a:off x="7040880" y="3383280"/>
            <a:ext cx="822960" cy="822960"/>
          </a:xfrm>
          <a:prstGeom prst="roundRect">
            <a:avLst>
              <a:gd name="adj" fmla="val 16667"/>
            </a:avLst>
          </a:prstGeom>
          <a:solidFill>
            <a:srgbClr val="12303A"/>
          </a:solidFill>
          <a:ln w="19050">
            <a:solidFill>
              <a:srgbClr val="34D399"/>
            </a:solidFill>
            <a:prstDash val="solid"/>
          </a:ln>
        </p:spPr>
      </p:sp>
      <p:pic>
        <p:nvPicPr>
          <p:cNvPr id="16" name="Image 3" descr="preencoded.png">    </p:cNvPr>
          <p:cNvPicPr>
            <a:picLocks noChangeAspect="1"/>
          </p:cNvPicPr>
          <p:nvPr/>
        </p:nvPicPr>
        <p:blipFill>
          <a:blip r:embed="rId4"/>
          <a:stretch>
            <a:fillRect/>
          </a:stretch>
        </p:blipFill>
        <p:spPr>
          <a:xfrm>
            <a:off x="7242048" y="3584448"/>
            <a:ext cx="420624" cy="420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we will learn</a:t>
            </a:r>
            <a:endParaRPr lang="en-US" sz="3200" dirty="0"/>
          </a:p>
        </p:txBody>
      </p:sp>
      <p:sp>
        <p:nvSpPr>
          <p:cNvPr id="4" name="Shape 2"/>
          <p:cNvSpPr/>
          <p:nvPr/>
        </p:nvSpPr>
        <p:spPr>
          <a:xfrm>
            <a:off x="457200" y="1325880"/>
            <a:ext cx="1920240" cy="2606040"/>
          </a:xfrm>
          <a:prstGeom prst="roundRect">
            <a:avLst>
              <a:gd name="adj" fmla="val 476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508760"/>
            <a:ext cx="457200" cy="457200"/>
          </a:xfrm>
          <a:prstGeom prst="ellipse">
            <a:avLst/>
          </a:prstGeom>
          <a:solidFill>
            <a:srgbClr val="047857"/>
          </a:solidFill>
          <a:ln w="6350">
            <a:solidFill>
              <a:srgbClr val="047857"/>
            </a:solidFill>
            <a:prstDash val="solid"/>
          </a:ln>
        </p:spPr>
      </p:sp>
      <p:sp>
        <p:nvSpPr>
          <p:cNvPr id="6" name="Text 4"/>
          <p:cNvSpPr txBox="1"/>
          <p:nvPr/>
        </p:nvSpPr>
        <p:spPr>
          <a:xfrm>
            <a:off x="640080" y="1508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Shape 5"/>
          <p:cNvSpPr/>
          <p:nvPr/>
        </p:nvSpPr>
        <p:spPr>
          <a:xfrm>
            <a:off x="1691640" y="1508760"/>
            <a:ext cx="502920" cy="502920"/>
          </a:xfrm>
          <a:prstGeom prst="ellipse">
            <a:avLst/>
          </a:prstGeom>
          <a:solidFill>
            <a:srgbClr val="D1FAE5"/>
          </a:solidFill>
          <a:ln w="6350">
            <a:solidFill>
              <a:srgbClr val="D1FAE5"/>
            </a:solidFill>
            <a:prstDash val="solid"/>
          </a:ln>
        </p:spPr>
      </p:sp>
      <p:pic>
        <p:nvPicPr>
          <p:cNvPr id="8" name="Image 0" descr="preencoded.png">    </p:cNvPr>
          <p:cNvPicPr>
            <a:picLocks noChangeAspect="1"/>
          </p:cNvPicPr>
          <p:nvPr/>
        </p:nvPicPr>
        <p:blipFill>
          <a:blip r:embed="rId1"/>
          <a:stretch>
            <a:fillRect/>
          </a:stretch>
        </p:blipFill>
        <p:spPr>
          <a:xfrm>
            <a:off x="1817370" y="1634490"/>
            <a:ext cx="251460" cy="251460"/>
          </a:xfrm>
          <a:prstGeom prst="rect">
            <a:avLst/>
          </a:prstGeom>
        </p:spPr>
      </p:pic>
      <p:sp>
        <p:nvSpPr>
          <p:cNvPr id="9" name="Text 6"/>
          <p:cNvSpPr txBox="1"/>
          <p:nvPr/>
        </p:nvSpPr>
        <p:spPr>
          <a:xfrm>
            <a:off x="640080" y="2194560"/>
            <a:ext cx="1600200" cy="365760"/>
          </a:xfrm>
          <a:prstGeom prst="rect">
            <a:avLst/>
          </a:prstGeom>
          <a:noFill/>
          <a:ln/>
        </p:spPr>
        <p:txBody>
          <a:bodyPr wrap="square" lIns="0" tIns="0" rIns="0" bIns="0" rtlCol="0" anchor="t"/>
          <a:lstStyle/>
          <a:p>
            <a:pPr indent="0" marL="0">
              <a:buNone/>
            </a:pPr>
            <a:r>
              <a:rPr lang="en-US" sz="1800" b="1" dirty="0">
                <a:solidFill>
                  <a:srgbClr val="0F172A"/>
                </a:solidFill>
                <a:latin typeface="Cambria" pitchFamily="34" charset="0"/>
                <a:ea typeface="Cambria" pitchFamily="34" charset="-122"/>
                <a:cs typeface="Cambria" pitchFamily="34" charset="-120"/>
              </a:rPr>
              <a:t>The basics</a:t>
            </a:r>
            <a:endParaRPr lang="en-US" sz="1800" dirty="0"/>
          </a:p>
        </p:txBody>
      </p:sp>
      <p:sp>
        <p:nvSpPr>
          <p:cNvPr id="10" name="Text 7"/>
          <p:cNvSpPr txBox="1"/>
          <p:nvPr/>
        </p:nvSpPr>
        <p:spPr>
          <a:xfrm>
            <a:off x="640080" y="2651760"/>
            <a:ext cx="1600200" cy="118872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What LangChain is, why it exists and how the pieces fit.</a:t>
            </a:r>
            <a:endParaRPr lang="en-US" sz="1300" dirty="0"/>
          </a:p>
        </p:txBody>
      </p:sp>
      <p:sp>
        <p:nvSpPr>
          <p:cNvPr id="11" name="Shape 8"/>
          <p:cNvSpPr/>
          <p:nvPr/>
        </p:nvSpPr>
        <p:spPr>
          <a:xfrm>
            <a:off x="2560320" y="1325880"/>
            <a:ext cx="1920240" cy="2606040"/>
          </a:xfrm>
          <a:prstGeom prst="roundRect">
            <a:avLst>
              <a:gd name="adj" fmla="val 476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2743200" y="1508760"/>
            <a:ext cx="457200" cy="457200"/>
          </a:xfrm>
          <a:prstGeom prst="ellipse">
            <a:avLst/>
          </a:prstGeom>
          <a:solidFill>
            <a:srgbClr val="047857"/>
          </a:solidFill>
          <a:ln w="6350">
            <a:solidFill>
              <a:srgbClr val="047857"/>
            </a:solidFill>
            <a:prstDash val="solid"/>
          </a:ln>
        </p:spPr>
      </p:sp>
      <p:sp>
        <p:nvSpPr>
          <p:cNvPr id="13" name="Text 10"/>
          <p:cNvSpPr txBox="1"/>
          <p:nvPr/>
        </p:nvSpPr>
        <p:spPr>
          <a:xfrm>
            <a:off x="2743200" y="1508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Shape 11"/>
          <p:cNvSpPr/>
          <p:nvPr/>
        </p:nvSpPr>
        <p:spPr>
          <a:xfrm>
            <a:off x="3794760" y="1508760"/>
            <a:ext cx="502920" cy="502920"/>
          </a:xfrm>
          <a:prstGeom prst="ellipse">
            <a:avLst/>
          </a:prstGeom>
          <a:solidFill>
            <a:srgbClr val="D1FAE5"/>
          </a:solidFill>
          <a:ln w="6350">
            <a:solidFill>
              <a:srgbClr val="D1FAE5"/>
            </a:solidFill>
            <a:prstDash val="solid"/>
          </a:ln>
        </p:spPr>
      </p:sp>
      <p:pic>
        <p:nvPicPr>
          <p:cNvPr id="15" name="Image 1" descr="preencoded.png">    </p:cNvPr>
          <p:cNvPicPr>
            <a:picLocks noChangeAspect="1"/>
          </p:cNvPicPr>
          <p:nvPr/>
        </p:nvPicPr>
        <p:blipFill>
          <a:blip r:embed="rId2"/>
          <a:stretch>
            <a:fillRect/>
          </a:stretch>
        </p:blipFill>
        <p:spPr>
          <a:xfrm>
            <a:off x="3920490" y="1634490"/>
            <a:ext cx="251460" cy="251460"/>
          </a:xfrm>
          <a:prstGeom prst="rect">
            <a:avLst/>
          </a:prstGeom>
        </p:spPr>
      </p:pic>
      <p:sp>
        <p:nvSpPr>
          <p:cNvPr id="16" name="Text 12"/>
          <p:cNvSpPr txBox="1"/>
          <p:nvPr/>
        </p:nvSpPr>
        <p:spPr>
          <a:xfrm>
            <a:off x="2743200" y="2194560"/>
            <a:ext cx="1600200" cy="365760"/>
          </a:xfrm>
          <a:prstGeom prst="rect">
            <a:avLst/>
          </a:prstGeom>
          <a:noFill/>
          <a:ln/>
        </p:spPr>
        <p:txBody>
          <a:bodyPr wrap="square" lIns="0" tIns="0" rIns="0" bIns="0" rtlCol="0" anchor="t"/>
          <a:lstStyle/>
          <a:p>
            <a:pPr indent="0" marL="0">
              <a:buNone/>
            </a:pPr>
            <a:r>
              <a:rPr lang="en-US" sz="1800" b="1" dirty="0">
                <a:solidFill>
                  <a:srgbClr val="0F172A"/>
                </a:solidFill>
                <a:latin typeface="Cambria" pitchFamily="34" charset="0"/>
                <a:ea typeface="Cambria" pitchFamily="34" charset="-122"/>
                <a:cs typeface="Cambria" pitchFamily="34" charset="-120"/>
              </a:rPr>
              <a:t>Core blocks</a:t>
            </a:r>
            <a:endParaRPr lang="en-US" sz="1800" dirty="0"/>
          </a:p>
        </p:txBody>
      </p:sp>
      <p:sp>
        <p:nvSpPr>
          <p:cNvPr id="17" name="Text 13"/>
          <p:cNvSpPr txBox="1"/>
          <p:nvPr/>
        </p:nvSpPr>
        <p:spPr>
          <a:xfrm>
            <a:off x="2743200" y="2651760"/>
            <a:ext cx="1600200" cy="118872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Models, messages, prompts, parsers, chains and memory.</a:t>
            </a:r>
            <a:endParaRPr lang="en-US" sz="1300" dirty="0"/>
          </a:p>
        </p:txBody>
      </p:sp>
      <p:sp>
        <p:nvSpPr>
          <p:cNvPr id="18" name="Shape 14"/>
          <p:cNvSpPr/>
          <p:nvPr/>
        </p:nvSpPr>
        <p:spPr>
          <a:xfrm>
            <a:off x="4663440" y="1325880"/>
            <a:ext cx="1920240" cy="2606040"/>
          </a:xfrm>
          <a:prstGeom prst="roundRect">
            <a:avLst>
              <a:gd name="adj" fmla="val 476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4846320" y="1508760"/>
            <a:ext cx="457200" cy="457200"/>
          </a:xfrm>
          <a:prstGeom prst="ellipse">
            <a:avLst/>
          </a:prstGeom>
          <a:solidFill>
            <a:srgbClr val="047857"/>
          </a:solidFill>
          <a:ln w="6350">
            <a:solidFill>
              <a:srgbClr val="047857"/>
            </a:solidFill>
            <a:prstDash val="solid"/>
          </a:ln>
        </p:spPr>
      </p:sp>
      <p:sp>
        <p:nvSpPr>
          <p:cNvPr id="20" name="Text 16"/>
          <p:cNvSpPr txBox="1"/>
          <p:nvPr/>
        </p:nvSpPr>
        <p:spPr>
          <a:xfrm>
            <a:off x="4846320" y="1508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Shape 17"/>
          <p:cNvSpPr/>
          <p:nvPr/>
        </p:nvSpPr>
        <p:spPr>
          <a:xfrm>
            <a:off x="5897880" y="1508760"/>
            <a:ext cx="502920" cy="502920"/>
          </a:xfrm>
          <a:prstGeom prst="ellipse">
            <a:avLst/>
          </a:prstGeom>
          <a:solidFill>
            <a:srgbClr val="D1FAE5"/>
          </a:solidFill>
          <a:ln w="6350">
            <a:solidFill>
              <a:srgbClr val="D1FAE5"/>
            </a:solidFill>
            <a:prstDash val="solid"/>
          </a:ln>
        </p:spPr>
      </p:sp>
      <p:pic>
        <p:nvPicPr>
          <p:cNvPr id="22" name="Image 2" descr="preencoded.png">    </p:cNvPr>
          <p:cNvPicPr>
            <a:picLocks noChangeAspect="1"/>
          </p:cNvPicPr>
          <p:nvPr/>
        </p:nvPicPr>
        <p:blipFill>
          <a:blip r:embed="rId3"/>
          <a:stretch>
            <a:fillRect/>
          </a:stretch>
        </p:blipFill>
        <p:spPr>
          <a:xfrm>
            <a:off x="6023610" y="1634490"/>
            <a:ext cx="251460" cy="251460"/>
          </a:xfrm>
          <a:prstGeom prst="rect">
            <a:avLst/>
          </a:prstGeom>
        </p:spPr>
      </p:pic>
      <p:sp>
        <p:nvSpPr>
          <p:cNvPr id="23" name="Text 18"/>
          <p:cNvSpPr txBox="1"/>
          <p:nvPr/>
        </p:nvSpPr>
        <p:spPr>
          <a:xfrm>
            <a:off x="4846320" y="2194560"/>
            <a:ext cx="1600200" cy="365760"/>
          </a:xfrm>
          <a:prstGeom prst="rect">
            <a:avLst/>
          </a:prstGeom>
          <a:noFill/>
          <a:ln/>
        </p:spPr>
        <p:txBody>
          <a:bodyPr wrap="square" lIns="0" tIns="0" rIns="0" bIns="0" rtlCol="0" anchor="t"/>
          <a:lstStyle/>
          <a:p>
            <a:pPr indent="0" marL="0">
              <a:buNone/>
            </a:pPr>
            <a:r>
              <a:rPr lang="en-US" sz="1800" b="1" dirty="0">
                <a:solidFill>
                  <a:srgbClr val="0F172A"/>
                </a:solidFill>
                <a:latin typeface="Cambria" pitchFamily="34" charset="0"/>
                <a:ea typeface="Cambria" pitchFamily="34" charset="-122"/>
                <a:cs typeface="Cambria" pitchFamily="34" charset="-120"/>
              </a:rPr>
              <a:t>Your own data</a:t>
            </a:r>
            <a:endParaRPr lang="en-US" sz="1800" dirty="0"/>
          </a:p>
        </p:txBody>
      </p:sp>
      <p:sp>
        <p:nvSpPr>
          <p:cNvPr id="24" name="Text 19"/>
          <p:cNvSpPr txBox="1"/>
          <p:nvPr/>
        </p:nvSpPr>
        <p:spPr>
          <a:xfrm>
            <a:off x="4846320" y="2651760"/>
            <a:ext cx="1600200" cy="118872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Loaders, splitters, embeddings, vector stores, retrievers (RAG).</a:t>
            </a:r>
            <a:endParaRPr lang="en-US" sz="1300" dirty="0"/>
          </a:p>
        </p:txBody>
      </p:sp>
      <p:sp>
        <p:nvSpPr>
          <p:cNvPr id="25" name="Shape 20"/>
          <p:cNvSpPr/>
          <p:nvPr/>
        </p:nvSpPr>
        <p:spPr>
          <a:xfrm>
            <a:off x="6766560" y="1325880"/>
            <a:ext cx="1920240" cy="2606040"/>
          </a:xfrm>
          <a:prstGeom prst="roundRect">
            <a:avLst>
              <a:gd name="adj" fmla="val 476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6949440" y="1508760"/>
            <a:ext cx="457200" cy="457200"/>
          </a:xfrm>
          <a:prstGeom prst="ellipse">
            <a:avLst/>
          </a:prstGeom>
          <a:solidFill>
            <a:srgbClr val="047857"/>
          </a:solidFill>
          <a:ln w="6350">
            <a:solidFill>
              <a:srgbClr val="047857"/>
            </a:solidFill>
            <a:prstDash val="solid"/>
          </a:ln>
        </p:spPr>
      </p:sp>
      <p:sp>
        <p:nvSpPr>
          <p:cNvPr id="27" name="Text 22"/>
          <p:cNvSpPr txBox="1"/>
          <p:nvPr/>
        </p:nvSpPr>
        <p:spPr>
          <a:xfrm>
            <a:off x="6949440" y="1508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8" name="Shape 23"/>
          <p:cNvSpPr/>
          <p:nvPr/>
        </p:nvSpPr>
        <p:spPr>
          <a:xfrm>
            <a:off x="8001000" y="1508760"/>
            <a:ext cx="502920" cy="502920"/>
          </a:xfrm>
          <a:prstGeom prst="ellipse">
            <a:avLst/>
          </a:prstGeom>
          <a:solidFill>
            <a:srgbClr val="D1FAE5"/>
          </a:solidFill>
          <a:ln w="6350">
            <a:solidFill>
              <a:srgbClr val="D1FAE5"/>
            </a:solidFill>
            <a:prstDash val="solid"/>
          </a:ln>
        </p:spPr>
      </p:sp>
      <p:pic>
        <p:nvPicPr>
          <p:cNvPr id="29" name="Image 3" descr="preencoded.png">    </p:cNvPr>
          <p:cNvPicPr>
            <a:picLocks noChangeAspect="1"/>
          </p:cNvPicPr>
          <p:nvPr/>
        </p:nvPicPr>
        <p:blipFill>
          <a:blip r:embed="rId4"/>
          <a:stretch>
            <a:fillRect/>
          </a:stretch>
        </p:blipFill>
        <p:spPr>
          <a:xfrm>
            <a:off x="8126730" y="1634490"/>
            <a:ext cx="251460" cy="251460"/>
          </a:xfrm>
          <a:prstGeom prst="rect">
            <a:avLst/>
          </a:prstGeom>
        </p:spPr>
      </p:pic>
      <p:sp>
        <p:nvSpPr>
          <p:cNvPr id="30" name="Text 24"/>
          <p:cNvSpPr txBox="1"/>
          <p:nvPr/>
        </p:nvSpPr>
        <p:spPr>
          <a:xfrm>
            <a:off x="6949440" y="2194560"/>
            <a:ext cx="1600200" cy="365760"/>
          </a:xfrm>
          <a:prstGeom prst="rect">
            <a:avLst/>
          </a:prstGeom>
          <a:noFill/>
          <a:ln/>
        </p:spPr>
        <p:txBody>
          <a:bodyPr wrap="square" lIns="0" tIns="0" rIns="0" bIns="0" rtlCol="0" anchor="t"/>
          <a:lstStyle/>
          <a:p>
            <a:pPr indent="0" marL="0">
              <a:buNone/>
            </a:pPr>
            <a:r>
              <a:rPr lang="en-US" sz="1800" b="1" dirty="0">
                <a:solidFill>
                  <a:srgbClr val="0F172A"/>
                </a:solidFill>
                <a:latin typeface="Cambria" pitchFamily="34" charset="0"/>
                <a:ea typeface="Cambria" pitchFamily="34" charset="-122"/>
                <a:cs typeface="Cambria" pitchFamily="34" charset="-120"/>
              </a:rPr>
              <a:t>Actions &amp; tools</a:t>
            </a:r>
            <a:endParaRPr lang="en-US" sz="1800" dirty="0"/>
          </a:p>
        </p:txBody>
      </p:sp>
      <p:sp>
        <p:nvSpPr>
          <p:cNvPr id="31" name="Text 25"/>
          <p:cNvSpPr txBox="1"/>
          <p:nvPr/>
        </p:nvSpPr>
        <p:spPr>
          <a:xfrm>
            <a:off x="6949440" y="2651760"/>
            <a:ext cx="1600200" cy="118872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Tools, agents, LangGraph, MCP and LangSmith.</a:t>
            </a:r>
            <a:endParaRPr lang="en-US" sz="1300" dirty="0"/>
          </a:p>
        </p:txBody>
      </p:sp>
      <p:sp>
        <p:nvSpPr>
          <p:cNvPr id="32" name="Shape 26"/>
          <p:cNvSpPr/>
          <p:nvPr/>
        </p:nvSpPr>
        <p:spPr>
          <a:xfrm>
            <a:off x="457200" y="4114800"/>
            <a:ext cx="8229600" cy="594360"/>
          </a:xfrm>
          <a:prstGeom prst="roundRect">
            <a:avLst>
              <a:gd name="adj" fmla="val 15385"/>
            </a:avLst>
          </a:prstGeom>
          <a:solidFill>
            <a:srgbClr val="D1FAE5"/>
          </a:solidFill>
          <a:ln/>
        </p:spPr>
      </p:sp>
      <p:sp>
        <p:nvSpPr>
          <p:cNvPr id="33" name="Text 27"/>
          <p:cNvSpPr txBox="1"/>
          <p:nvPr/>
        </p:nvSpPr>
        <p:spPr>
          <a:xfrm>
            <a:off x="685800" y="4114800"/>
            <a:ext cx="7772400" cy="59436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Every component slide has the same 4 parts:  </a:t>
            </a:r>
            <a:pPr indent="0" marL="0">
              <a:buNone/>
            </a:pPr>
            <a:r>
              <a:rPr lang="en-US" sz="1400" dirty="0">
                <a:solidFill>
                  <a:srgbClr val="0F172A"/>
                </a:solidFill>
                <a:latin typeface="Calibri" pitchFamily="34" charset="0"/>
                <a:ea typeface="Calibri" pitchFamily="34" charset="-122"/>
                <a:cs typeface="Calibri" pitchFamily="34" charset="-120"/>
              </a:rPr>
              <a:t>What it is  &gt;  Think of it like  &gt;  In code  &gt;  Use it when</a:t>
            </a:r>
            <a:endParaRPr lang="en-US" sz="14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BASICS</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is LangChain?</a:t>
            </a:r>
            <a:endParaRPr lang="en-US" sz="3200" dirty="0"/>
          </a:p>
        </p:txBody>
      </p:sp>
      <p:sp>
        <p:nvSpPr>
          <p:cNvPr id="4" name="Shape 2"/>
          <p:cNvSpPr/>
          <p:nvPr/>
        </p:nvSpPr>
        <p:spPr>
          <a:xfrm>
            <a:off x="457200" y="1280160"/>
            <a:ext cx="8229600" cy="960120"/>
          </a:xfrm>
          <a:prstGeom prst="roundRect">
            <a:avLst>
              <a:gd name="adj" fmla="val 9524"/>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731520" y="1280160"/>
            <a:ext cx="7680960" cy="960120"/>
          </a:xfrm>
          <a:prstGeom prst="rect">
            <a:avLst/>
          </a:prstGeom>
          <a:noFill/>
          <a:ln/>
        </p:spPr>
        <p:txBody>
          <a:bodyPr wrap="square" lIns="0" tIns="0" rIns="0" bIns="0" rtlCol="0" anchor="ctr"/>
          <a:lstStyle/>
          <a:p>
            <a:pPr indent="0" marL="0">
              <a:buNone/>
            </a:pPr>
            <a:r>
              <a:rPr lang="en-US" sz="1800" b="1" dirty="0">
                <a:solidFill>
                  <a:srgbClr val="34D399"/>
                </a:solidFill>
                <a:latin typeface="Cambria" pitchFamily="34" charset="0"/>
                <a:ea typeface="Cambria" pitchFamily="34" charset="-122"/>
                <a:cs typeface="Cambria" pitchFamily="34" charset="-120"/>
              </a:rPr>
              <a:t>LangChain is a toolkit </a:t>
            </a:r>
            <a:pPr indent="0" marL="0">
              <a:buNone/>
            </a:pPr>
            <a:r>
              <a:rPr lang="en-US" sz="1800" dirty="0">
                <a:solidFill>
                  <a:srgbClr val="FFFFFF"/>
                </a:solidFill>
                <a:latin typeface="Cambria" pitchFamily="34" charset="0"/>
                <a:ea typeface="Cambria" pitchFamily="34" charset="-122"/>
                <a:cs typeface="Cambria" pitchFamily="34" charset="-120"/>
              </a:rPr>
              <a:t>that makes it easier to build apps powered by AI models, by giving you ready-made building blocks.</a:t>
            </a:r>
            <a:endParaRPr lang="en-US" sz="1800" dirty="0"/>
          </a:p>
        </p:txBody>
      </p:sp>
      <p:sp>
        <p:nvSpPr>
          <p:cNvPr id="6" name="Shape 4"/>
          <p:cNvSpPr/>
          <p:nvPr/>
        </p:nvSpPr>
        <p:spPr>
          <a:xfrm>
            <a:off x="457200" y="2423160"/>
            <a:ext cx="265176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640080" y="2578608"/>
            <a:ext cx="457200" cy="457200"/>
          </a:xfrm>
          <a:prstGeom prst="ellipse">
            <a:avLst/>
          </a:prstGeom>
          <a:solidFill>
            <a:srgbClr val="D1FAE5"/>
          </a:solidFill>
          <a:ln w="6350">
            <a:solidFill>
              <a:srgbClr val="D1FAE5"/>
            </a:solidFill>
            <a:prstDash val="solid"/>
          </a:ln>
        </p:spPr>
      </p:sp>
      <p:pic>
        <p:nvPicPr>
          <p:cNvPr id="8" name="Image 0" descr="preencoded.png">    </p:cNvPr>
          <p:cNvPicPr>
            <a:picLocks noChangeAspect="1"/>
          </p:cNvPicPr>
          <p:nvPr/>
        </p:nvPicPr>
        <p:blipFill>
          <a:blip r:embed="rId1"/>
          <a:stretch>
            <a:fillRect/>
          </a:stretch>
        </p:blipFill>
        <p:spPr>
          <a:xfrm>
            <a:off x="754380" y="2692908"/>
            <a:ext cx="228600" cy="228600"/>
          </a:xfrm>
          <a:prstGeom prst="rect">
            <a:avLst/>
          </a:prstGeom>
        </p:spPr>
      </p:pic>
      <p:sp>
        <p:nvSpPr>
          <p:cNvPr id="9" name="Text 6"/>
          <p:cNvSpPr txBox="1"/>
          <p:nvPr/>
        </p:nvSpPr>
        <p:spPr>
          <a:xfrm>
            <a:off x="1234440" y="2578608"/>
            <a:ext cx="1783080" cy="45720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One standard way</a:t>
            </a:r>
            <a:endParaRPr lang="en-US" sz="1500" dirty="0"/>
          </a:p>
        </p:txBody>
      </p:sp>
      <p:sp>
        <p:nvSpPr>
          <p:cNvPr id="10" name="Text 7"/>
          <p:cNvSpPr txBox="1"/>
          <p:nvPr/>
        </p:nvSpPr>
        <p:spPr>
          <a:xfrm>
            <a:off x="640080" y="3154680"/>
            <a:ext cx="2331720" cy="73152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Talk to any AI model (OpenAI, Claude, Gemini, local models) with the same code.</a:t>
            </a:r>
            <a:endParaRPr lang="en-US" sz="1150" dirty="0"/>
          </a:p>
        </p:txBody>
      </p:sp>
      <p:sp>
        <p:nvSpPr>
          <p:cNvPr id="11" name="Shape 8"/>
          <p:cNvSpPr/>
          <p:nvPr/>
        </p:nvSpPr>
        <p:spPr>
          <a:xfrm>
            <a:off x="3246120" y="2423160"/>
            <a:ext cx="265176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3429000" y="2578608"/>
            <a:ext cx="457200" cy="457200"/>
          </a:xfrm>
          <a:prstGeom prst="ellipse">
            <a:avLst/>
          </a:prstGeom>
          <a:solidFill>
            <a:srgbClr val="D1FAE5"/>
          </a:solidFill>
          <a:ln w="6350">
            <a:solidFill>
              <a:srgbClr val="D1FAE5"/>
            </a:solidFill>
            <a:prstDash val="solid"/>
          </a:ln>
        </p:spPr>
      </p:sp>
      <p:pic>
        <p:nvPicPr>
          <p:cNvPr id="13" name="Image 1" descr="preencoded.png">    </p:cNvPr>
          <p:cNvPicPr>
            <a:picLocks noChangeAspect="1"/>
          </p:cNvPicPr>
          <p:nvPr/>
        </p:nvPicPr>
        <p:blipFill>
          <a:blip r:embed="rId2"/>
          <a:stretch>
            <a:fillRect/>
          </a:stretch>
        </p:blipFill>
        <p:spPr>
          <a:xfrm>
            <a:off x="3543300" y="2692908"/>
            <a:ext cx="228600" cy="228600"/>
          </a:xfrm>
          <a:prstGeom prst="rect">
            <a:avLst/>
          </a:prstGeom>
        </p:spPr>
      </p:pic>
      <p:sp>
        <p:nvSpPr>
          <p:cNvPr id="14" name="Text 10"/>
          <p:cNvSpPr txBox="1"/>
          <p:nvPr/>
        </p:nvSpPr>
        <p:spPr>
          <a:xfrm>
            <a:off x="4023360" y="2578608"/>
            <a:ext cx="1783080" cy="45720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Ready-made blocks</a:t>
            </a:r>
            <a:endParaRPr lang="en-US" sz="1500" dirty="0"/>
          </a:p>
        </p:txBody>
      </p:sp>
      <p:sp>
        <p:nvSpPr>
          <p:cNvPr id="15" name="Text 11"/>
          <p:cNvSpPr txBox="1"/>
          <p:nvPr/>
        </p:nvSpPr>
        <p:spPr>
          <a:xfrm>
            <a:off x="3429000" y="3154680"/>
            <a:ext cx="2331720" cy="73152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Prompts, memory, tools, document readers and more. You connect them instead of coding from zero.</a:t>
            </a:r>
            <a:endParaRPr lang="en-US" sz="1150" dirty="0"/>
          </a:p>
        </p:txBody>
      </p:sp>
      <p:sp>
        <p:nvSpPr>
          <p:cNvPr id="16" name="Shape 12"/>
          <p:cNvSpPr/>
          <p:nvPr/>
        </p:nvSpPr>
        <p:spPr>
          <a:xfrm>
            <a:off x="6035040" y="2423160"/>
            <a:ext cx="2651760" cy="1508760"/>
          </a:xfrm>
          <a:prstGeom prst="roundRect">
            <a:avLst>
              <a:gd name="adj" fmla="val 606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6217920" y="2578608"/>
            <a:ext cx="457200" cy="457200"/>
          </a:xfrm>
          <a:prstGeom prst="ellipse">
            <a:avLst/>
          </a:prstGeom>
          <a:solidFill>
            <a:srgbClr val="D1FAE5"/>
          </a:solidFill>
          <a:ln w="6350">
            <a:solidFill>
              <a:srgbClr val="D1FAE5"/>
            </a:solidFill>
            <a:prstDash val="solid"/>
          </a:ln>
        </p:spPr>
      </p:sp>
      <p:pic>
        <p:nvPicPr>
          <p:cNvPr id="18" name="Image 2" descr="preencoded.png">    </p:cNvPr>
          <p:cNvPicPr>
            <a:picLocks noChangeAspect="1"/>
          </p:cNvPicPr>
          <p:nvPr/>
        </p:nvPicPr>
        <p:blipFill>
          <a:blip r:embed="rId3"/>
          <a:stretch>
            <a:fillRect/>
          </a:stretch>
        </p:blipFill>
        <p:spPr>
          <a:xfrm>
            <a:off x="6332220" y="2692908"/>
            <a:ext cx="228600" cy="228600"/>
          </a:xfrm>
          <a:prstGeom prst="rect">
            <a:avLst/>
          </a:prstGeom>
        </p:spPr>
      </p:pic>
      <p:sp>
        <p:nvSpPr>
          <p:cNvPr id="19" name="Text 14"/>
          <p:cNvSpPr txBox="1"/>
          <p:nvPr/>
        </p:nvSpPr>
        <p:spPr>
          <a:xfrm>
            <a:off x="6812280" y="2578608"/>
            <a:ext cx="1783080" cy="45720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Many integrations</a:t>
            </a:r>
            <a:endParaRPr lang="en-US" sz="1500" dirty="0"/>
          </a:p>
        </p:txBody>
      </p:sp>
      <p:sp>
        <p:nvSpPr>
          <p:cNvPr id="20" name="Text 15"/>
          <p:cNvSpPr txBox="1"/>
          <p:nvPr/>
        </p:nvSpPr>
        <p:spPr>
          <a:xfrm>
            <a:off x="6217920" y="3154680"/>
            <a:ext cx="2331720" cy="73152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Hundreds of connections to models, databases, search engines and APIs.</a:t>
            </a:r>
            <a:endParaRPr lang="en-US" sz="1150" dirty="0"/>
          </a:p>
        </p:txBody>
      </p:sp>
      <p:sp>
        <p:nvSpPr>
          <p:cNvPr id="21" name="Shape 16"/>
          <p:cNvSpPr/>
          <p:nvPr/>
        </p:nvSpPr>
        <p:spPr>
          <a:xfrm>
            <a:off x="457200" y="4114800"/>
            <a:ext cx="8229600" cy="594360"/>
          </a:xfrm>
          <a:prstGeom prst="roundRect">
            <a:avLst>
              <a:gd name="adj" fmla="val 15385"/>
            </a:avLst>
          </a:prstGeom>
          <a:solidFill>
            <a:srgbClr val="FEF3C7"/>
          </a:solidFill>
          <a:ln/>
        </p:spPr>
      </p:sp>
      <p:sp>
        <p:nvSpPr>
          <p:cNvPr id="22" name="Text 17"/>
          <p:cNvSpPr txBox="1"/>
          <p:nvPr/>
        </p:nvSpPr>
        <p:spPr>
          <a:xfrm>
            <a:off x="685800" y="4114800"/>
            <a:ext cx="7772400" cy="594360"/>
          </a:xfrm>
          <a:prstGeom prst="rect">
            <a:avLst/>
          </a:prstGeom>
          <a:noFill/>
          <a:ln/>
        </p:spPr>
        <p:txBody>
          <a:bodyPr wrap="square" lIns="0" tIns="0" rIns="0" bIns="0" rtlCol="0" anchor="ctr"/>
          <a:lstStyle/>
          <a:p>
            <a:pPr indent="0" marL="0">
              <a:buNone/>
            </a:pPr>
            <a:r>
              <a:rPr lang="en-US" sz="1500" b="1" dirty="0">
                <a:solidFill>
                  <a:srgbClr val="78350F"/>
                </a:solidFill>
                <a:latin typeface="Calibri" pitchFamily="34" charset="0"/>
                <a:ea typeface="Calibri" pitchFamily="34" charset="-122"/>
                <a:cs typeface="Calibri" pitchFamily="34" charset="-120"/>
              </a:rPr>
              <a:t>Think of it like Lego for AI apps:  </a:t>
            </a:r>
            <a:pPr indent="0" marL="0">
              <a:buNone/>
            </a:pPr>
            <a:r>
              <a:rPr lang="en-US" sz="1500" dirty="0">
                <a:solidFill>
                  <a:srgbClr val="78350F"/>
                </a:solidFill>
                <a:latin typeface="Calibri" pitchFamily="34" charset="0"/>
                <a:ea typeface="Calibri" pitchFamily="34" charset="-122"/>
                <a:cs typeface="Calibri" pitchFamily="34" charset="-120"/>
              </a:rPr>
              <a:t>each block does one job, and you snap them together.</a:t>
            </a:r>
            <a:endParaRPr lang="en-US" sz="15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BASICS</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Why do we need it?</a:t>
            </a:r>
            <a:endParaRPr lang="en-US" sz="3200" dirty="0"/>
          </a:p>
        </p:txBody>
      </p:sp>
      <p:sp>
        <p:nvSpPr>
          <p:cNvPr id="4" name="Shape 2"/>
          <p:cNvSpPr/>
          <p:nvPr/>
        </p:nvSpPr>
        <p:spPr>
          <a:xfrm>
            <a:off x="457200" y="1280160"/>
            <a:ext cx="4023360" cy="2606040"/>
          </a:xfrm>
          <a:prstGeom prst="roundRect">
            <a:avLst>
              <a:gd name="adj" fmla="val 3509"/>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85800" y="1417320"/>
            <a:ext cx="3657600" cy="36576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Without LangChain</a:t>
            </a:r>
            <a:endParaRPr lang="en-US" sz="1800" dirty="0"/>
          </a:p>
        </p:txBody>
      </p:sp>
      <p:sp>
        <p:nvSpPr>
          <p:cNvPr id="6" name="Text 4"/>
          <p:cNvSpPr txBox="1"/>
          <p:nvPr/>
        </p:nvSpPr>
        <p:spPr>
          <a:xfrm>
            <a:off x="685800" y="1874520"/>
            <a:ext cx="36576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Write different code for every AI provider</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Build prompt strings by hand</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Manage chat history yourself</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Write the tool-calling loop yourself</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Parse PDFs and split text yourself</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Hard to see what went wrong</a:t>
            </a:r>
            <a:endParaRPr lang="en-US" sz="1300" dirty="0"/>
          </a:p>
        </p:txBody>
      </p:sp>
      <p:sp>
        <p:nvSpPr>
          <p:cNvPr id="7" name="Shape 5"/>
          <p:cNvSpPr/>
          <p:nvPr/>
        </p:nvSpPr>
        <p:spPr>
          <a:xfrm>
            <a:off x="4663440" y="1280160"/>
            <a:ext cx="4023360" cy="2606040"/>
          </a:xfrm>
          <a:prstGeom prst="roundRect">
            <a:avLst>
              <a:gd name="adj" fmla="val 3509"/>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892040" y="1417320"/>
            <a:ext cx="3657600" cy="365760"/>
          </a:xfrm>
          <a:prstGeom prst="rect">
            <a:avLst/>
          </a:prstGeom>
          <a:noFill/>
          <a:ln/>
        </p:spPr>
        <p:txBody>
          <a:bodyPr wrap="square" lIns="0" tIns="0" rIns="0" bIns="0" rtlCol="0" anchor="t"/>
          <a:lstStyle/>
          <a:p>
            <a:pPr indent="0" marL="0">
              <a:buNone/>
            </a:pPr>
            <a:r>
              <a:rPr lang="en-US" sz="1800" b="1" dirty="0">
                <a:solidFill>
                  <a:srgbClr val="34D399"/>
                </a:solidFill>
                <a:latin typeface="Cambria" pitchFamily="34" charset="0"/>
                <a:ea typeface="Cambria" pitchFamily="34" charset="-122"/>
                <a:cs typeface="Cambria" pitchFamily="34" charset="-120"/>
              </a:rPr>
              <a:t>With LangChain</a:t>
            </a:r>
            <a:endParaRPr lang="en-US" sz="1800" dirty="0"/>
          </a:p>
        </p:txBody>
      </p:sp>
      <p:sp>
        <p:nvSpPr>
          <p:cNvPr id="9" name="Text 7"/>
          <p:cNvSpPr txBox="1"/>
          <p:nvPr/>
        </p:nvSpPr>
        <p:spPr>
          <a:xfrm>
            <a:off x="4892040" y="1874520"/>
            <a:ext cx="36576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Same code for every provider</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Prompt templates with blanks</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Memory handled for you</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Agents run the tool loop for you</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Loaders and splitters included</a:t>
            </a:r>
            <a:endParaRPr lang="en-US" sz="1300" dirty="0"/>
          </a:p>
          <a:p>
            <a:pPr marL="342900" indent="-3429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Tracing with LangSmith</a:t>
            </a:r>
            <a:endParaRPr lang="en-US" sz="1300" dirty="0"/>
          </a:p>
        </p:txBody>
      </p:sp>
      <p:sp>
        <p:nvSpPr>
          <p:cNvPr id="10" name="Shape 8"/>
          <p:cNvSpPr/>
          <p:nvPr/>
        </p:nvSpPr>
        <p:spPr>
          <a:xfrm>
            <a:off x="457200" y="4069080"/>
            <a:ext cx="8229600" cy="640080"/>
          </a:xfrm>
          <a:prstGeom prst="roundRect">
            <a:avLst>
              <a:gd name="adj" fmla="val 14286"/>
            </a:avLst>
          </a:prstGeom>
          <a:solidFill>
            <a:srgbClr val="D1FAE5"/>
          </a:solidFill>
          <a:ln/>
        </p:spPr>
      </p:sp>
      <p:sp>
        <p:nvSpPr>
          <p:cNvPr id="11" name="Text 9"/>
          <p:cNvSpPr txBox="1"/>
          <p:nvPr/>
        </p:nvSpPr>
        <p:spPr>
          <a:xfrm>
            <a:off x="685800" y="4069080"/>
            <a:ext cx="7772400" cy="640080"/>
          </a:xfrm>
          <a:prstGeom prst="rect">
            <a:avLst/>
          </a:prstGeom>
          <a:noFill/>
          <a:ln/>
        </p:spPr>
        <p:txBody>
          <a:bodyPr wrap="square" lIns="0" tIns="0" rIns="0" bIns="0" rtlCol="0" anchor="ctr"/>
          <a:lstStyle/>
          <a:p>
            <a:pPr indent="0" marL="0">
              <a:buNone/>
            </a:pPr>
            <a:r>
              <a:rPr lang="en-US" sz="1500" b="1" dirty="0">
                <a:solidFill>
                  <a:srgbClr val="047857"/>
                </a:solidFill>
                <a:latin typeface="Calibri" pitchFamily="34" charset="0"/>
                <a:ea typeface="Calibri" pitchFamily="34" charset="-122"/>
                <a:cs typeface="Calibri" pitchFamily="34" charset="-120"/>
              </a:rPr>
              <a:t>In short:  </a:t>
            </a:r>
            <a:pPr indent="0" marL="0">
              <a:buNone/>
            </a:pPr>
            <a:r>
              <a:rPr lang="en-US" sz="1500" dirty="0">
                <a:solidFill>
                  <a:srgbClr val="0F172A"/>
                </a:solidFill>
                <a:latin typeface="Calibri" pitchFamily="34" charset="0"/>
                <a:ea typeface="Calibri" pitchFamily="34" charset="-122"/>
                <a:cs typeface="Calibri" pitchFamily="34" charset="-120"/>
              </a:rPr>
              <a:t>LangChain saves time, so you spend it on your idea, not on the plumbing.</a:t>
            </a:r>
            <a:endParaRPr lang="en-US" sz="15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BASICS</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big picture</a:t>
            </a:r>
            <a:endParaRPr lang="en-US" sz="3200" dirty="0"/>
          </a:p>
        </p:txBody>
      </p:sp>
      <p:sp>
        <p:nvSpPr>
          <p:cNvPr id="4" name="Shape 2"/>
          <p:cNvSpPr/>
          <p:nvPr/>
        </p:nvSpPr>
        <p:spPr>
          <a:xfrm>
            <a:off x="457200" y="1554480"/>
            <a:ext cx="1280160" cy="731520"/>
          </a:xfrm>
          <a:prstGeom prst="roundRect">
            <a:avLst>
              <a:gd name="adj" fmla="val 12500"/>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457200" y="1554480"/>
            <a:ext cx="1280160" cy="731520"/>
          </a:xfrm>
          <a:prstGeom prst="rect">
            <a:avLst/>
          </a:prstGeom>
          <a:noFill/>
          <a:ln/>
        </p:spPr>
        <p:txBody>
          <a:bodyPr wrap="square" lIns="0" tIns="0" rIns="0" bIns="0" rtlCol="0" anchor="ctr"/>
          <a:lstStyle/>
          <a:p>
            <a:pPr algn="ctr" indent="0" marL="0">
              <a:buNone/>
            </a:pPr>
            <a:r>
              <a:rPr lang="en-US" sz="1600" b="1" dirty="0">
                <a:solidFill>
                  <a:srgbClr val="34D399"/>
                </a:solidFill>
                <a:latin typeface="Cambria" pitchFamily="34" charset="0"/>
                <a:ea typeface="Cambria" pitchFamily="34" charset="-122"/>
                <a:cs typeface="Cambria" pitchFamily="34" charset="-120"/>
              </a:rPr>
              <a:t>Question</a:t>
            </a:r>
            <a:endParaRPr lang="en-US" sz="1600" dirty="0"/>
          </a:p>
        </p:txBody>
      </p:sp>
      <p:sp>
        <p:nvSpPr>
          <p:cNvPr id="6" name="Shape 4"/>
          <p:cNvSpPr/>
          <p:nvPr/>
        </p:nvSpPr>
        <p:spPr>
          <a:xfrm>
            <a:off x="1737360" y="1920240"/>
            <a:ext cx="457200" cy="0"/>
          </a:xfrm>
          <a:prstGeom prst="line">
            <a:avLst/>
          </a:prstGeom>
          <a:noFill/>
          <a:ln w="25400">
            <a:solidFill>
              <a:srgbClr val="059669"/>
            </a:solidFill>
            <a:prstDash val="solid"/>
            <a:tailEnd type="triangle"/>
          </a:ln>
        </p:spPr>
      </p:sp>
      <p:sp>
        <p:nvSpPr>
          <p:cNvPr id="7" name="Shape 5"/>
          <p:cNvSpPr/>
          <p:nvPr/>
        </p:nvSpPr>
        <p:spPr>
          <a:xfrm>
            <a:off x="2194560" y="1554480"/>
            <a:ext cx="1371600" cy="731520"/>
          </a:xfrm>
          <a:prstGeom prst="roundRect">
            <a:avLst>
              <a:gd name="adj" fmla="val 12500"/>
            </a:avLst>
          </a:prstGeom>
          <a:solidFill>
            <a:srgbClr val="FFFFFF"/>
          </a:solidFill>
          <a:ln w="19050">
            <a:solidFill>
              <a:srgbClr val="059669"/>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2194560" y="1554480"/>
            <a:ext cx="1371600" cy="731520"/>
          </a:xfrm>
          <a:prstGeom prst="rect">
            <a:avLst/>
          </a:prstGeom>
          <a:noFill/>
          <a:ln/>
        </p:spPr>
        <p:txBody>
          <a:bodyPr wrap="square" lIns="0" tIns="0" rIns="0" bIns="0" rtlCol="0" anchor="ctr"/>
          <a:lstStyle/>
          <a:p>
            <a:pPr algn="ctr" indent="0" marL="0">
              <a:buNone/>
            </a:pPr>
            <a:r>
              <a:rPr lang="en-US" sz="1600" b="1" dirty="0">
                <a:solidFill>
                  <a:srgbClr val="0F172A"/>
                </a:solidFill>
                <a:latin typeface="Cambria" pitchFamily="34" charset="0"/>
                <a:ea typeface="Cambria" pitchFamily="34" charset="-122"/>
                <a:cs typeface="Cambria" pitchFamily="34" charset="-120"/>
              </a:rPr>
              <a:t>Prompt</a:t>
            </a:r>
            <a:endParaRPr lang="en-US" sz="1600" dirty="0"/>
          </a:p>
        </p:txBody>
      </p:sp>
      <p:sp>
        <p:nvSpPr>
          <p:cNvPr id="9" name="Shape 7"/>
          <p:cNvSpPr/>
          <p:nvPr/>
        </p:nvSpPr>
        <p:spPr>
          <a:xfrm>
            <a:off x="3566160" y="1920240"/>
            <a:ext cx="457200" cy="0"/>
          </a:xfrm>
          <a:prstGeom prst="line">
            <a:avLst/>
          </a:prstGeom>
          <a:noFill/>
          <a:ln w="25400">
            <a:solidFill>
              <a:srgbClr val="059669"/>
            </a:solidFill>
            <a:prstDash val="solid"/>
            <a:tailEnd type="triangle"/>
          </a:ln>
        </p:spPr>
      </p:sp>
      <p:sp>
        <p:nvSpPr>
          <p:cNvPr id="10" name="Shape 8"/>
          <p:cNvSpPr/>
          <p:nvPr/>
        </p:nvSpPr>
        <p:spPr>
          <a:xfrm>
            <a:off x="4023360" y="1554480"/>
            <a:ext cx="1371600" cy="731520"/>
          </a:xfrm>
          <a:prstGeom prst="roundRect">
            <a:avLst>
              <a:gd name="adj" fmla="val 12500"/>
            </a:avLst>
          </a:prstGeom>
          <a:solidFill>
            <a:srgbClr val="FFFFFF"/>
          </a:solidFill>
          <a:ln w="19050">
            <a:solidFill>
              <a:srgbClr val="059669"/>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4023360" y="1554480"/>
            <a:ext cx="1371600" cy="731520"/>
          </a:xfrm>
          <a:prstGeom prst="rect">
            <a:avLst/>
          </a:prstGeom>
          <a:noFill/>
          <a:ln/>
        </p:spPr>
        <p:txBody>
          <a:bodyPr wrap="square" lIns="0" tIns="0" rIns="0" bIns="0" rtlCol="0" anchor="ctr"/>
          <a:lstStyle/>
          <a:p>
            <a:pPr algn="ctr" indent="0" marL="0">
              <a:buNone/>
            </a:pPr>
            <a:r>
              <a:rPr lang="en-US" sz="1600" b="1" dirty="0">
                <a:solidFill>
                  <a:srgbClr val="0F172A"/>
                </a:solidFill>
                <a:latin typeface="Cambria" pitchFamily="34" charset="0"/>
                <a:ea typeface="Cambria" pitchFamily="34" charset="-122"/>
                <a:cs typeface="Cambria" pitchFamily="34" charset="-120"/>
              </a:rPr>
              <a:t>Model</a:t>
            </a:r>
            <a:endParaRPr lang="en-US" sz="1600" dirty="0"/>
          </a:p>
        </p:txBody>
      </p:sp>
      <p:sp>
        <p:nvSpPr>
          <p:cNvPr id="12" name="Shape 10"/>
          <p:cNvSpPr/>
          <p:nvPr/>
        </p:nvSpPr>
        <p:spPr>
          <a:xfrm>
            <a:off x="5394960" y="1920240"/>
            <a:ext cx="457200" cy="0"/>
          </a:xfrm>
          <a:prstGeom prst="line">
            <a:avLst/>
          </a:prstGeom>
          <a:noFill/>
          <a:ln w="25400">
            <a:solidFill>
              <a:srgbClr val="059669"/>
            </a:solidFill>
            <a:prstDash val="solid"/>
            <a:tailEnd type="triangle"/>
          </a:ln>
        </p:spPr>
      </p:sp>
      <p:sp>
        <p:nvSpPr>
          <p:cNvPr id="13" name="Shape 11"/>
          <p:cNvSpPr/>
          <p:nvPr/>
        </p:nvSpPr>
        <p:spPr>
          <a:xfrm>
            <a:off x="5852160" y="1554480"/>
            <a:ext cx="1371600" cy="731520"/>
          </a:xfrm>
          <a:prstGeom prst="roundRect">
            <a:avLst>
              <a:gd name="adj" fmla="val 12500"/>
            </a:avLst>
          </a:prstGeom>
          <a:solidFill>
            <a:srgbClr val="FFFFFF"/>
          </a:solidFill>
          <a:ln w="19050">
            <a:solidFill>
              <a:srgbClr val="059669"/>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5852160" y="1554480"/>
            <a:ext cx="1371600" cy="731520"/>
          </a:xfrm>
          <a:prstGeom prst="rect">
            <a:avLst/>
          </a:prstGeom>
          <a:noFill/>
          <a:ln/>
        </p:spPr>
        <p:txBody>
          <a:bodyPr wrap="square" lIns="0" tIns="0" rIns="0" bIns="0" rtlCol="0" anchor="ctr"/>
          <a:lstStyle/>
          <a:p>
            <a:pPr algn="ctr" indent="0" marL="0">
              <a:buNone/>
            </a:pPr>
            <a:r>
              <a:rPr lang="en-US" sz="1600" b="1" dirty="0">
                <a:solidFill>
                  <a:srgbClr val="0F172A"/>
                </a:solidFill>
                <a:latin typeface="Cambria" pitchFamily="34" charset="0"/>
                <a:ea typeface="Cambria" pitchFamily="34" charset="-122"/>
                <a:cs typeface="Cambria" pitchFamily="34" charset="-120"/>
              </a:rPr>
              <a:t>Parser</a:t>
            </a:r>
            <a:endParaRPr lang="en-US" sz="1600" dirty="0"/>
          </a:p>
        </p:txBody>
      </p:sp>
      <p:sp>
        <p:nvSpPr>
          <p:cNvPr id="15" name="Shape 13"/>
          <p:cNvSpPr/>
          <p:nvPr/>
        </p:nvSpPr>
        <p:spPr>
          <a:xfrm>
            <a:off x="7223760" y="1920240"/>
            <a:ext cx="457200" cy="0"/>
          </a:xfrm>
          <a:prstGeom prst="line">
            <a:avLst/>
          </a:prstGeom>
          <a:noFill/>
          <a:ln w="25400">
            <a:solidFill>
              <a:srgbClr val="059669"/>
            </a:solidFill>
            <a:prstDash val="solid"/>
            <a:tailEnd type="triangle"/>
          </a:ln>
        </p:spPr>
      </p:sp>
      <p:sp>
        <p:nvSpPr>
          <p:cNvPr id="16" name="Shape 14"/>
          <p:cNvSpPr/>
          <p:nvPr/>
        </p:nvSpPr>
        <p:spPr>
          <a:xfrm>
            <a:off x="7680960" y="1554480"/>
            <a:ext cx="1005840" cy="731520"/>
          </a:xfrm>
          <a:prstGeom prst="roundRect">
            <a:avLst>
              <a:gd name="adj" fmla="val 12500"/>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7680960" y="1554480"/>
            <a:ext cx="1005840" cy="731520"/>
          </a:xfrm>
          <a:prstGeom prst="rect">
            <a:avLst/>
          </a:prstGeom>
          <a:noFill/>
          <a:ln/>
        </p:spPr>
        <p:txBody>
          <a:bodyPr wrap="square" lIns="0" tIns="0" rIns="0" bIns="0" rtlCol="0" anchor="ctr"/>
          <a:lstStyle/>
          <a:p>
            <a:pPr algn="ctr" indent="0" marL="0">
              <a:buNone/>
            </a:pPr>
            <a:r>
              <a:rPr lang="en-US" sz="1600" b="1" dirty="0">
                <a:solidFill>
                  <a:srgbClr val="34D399"/>
                </a:solidFill>
                <a:latin typeface="Cambria" pitchFamily="34" charset="0"/>
                <a:ea typeface="Cambria" pitchFamily="34" charset="-122"/>
                <a:cs typeface="Cambria" pitchFamily="34" charset="-120"/>
              </a:rPr>
              <a:t>Answer</a:t>
            </a:r>
            <a:endParaRPr lang="en-US" sz="1600" dirty="0"/>
          </a:p>
        </p:txBody>
      </p:sp>
      <p:sp>
        <p:nvSpPr>
          <p:cNvPr id="18" name="Text 1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The main chain: you ask, a prompt is built, the model thinks, a parser cleans the answer.</a:t>
            </a:r>
            <a:endParaRPr lang="en-US" sz="1250" dirty="0"/>
          </a:p>
        </p:txBody>
      </p:sp>
      <p:sp>
        <p:nvSpPr>
          <p:cNvPr id="19" name="Shape 17"/>
          <p:cNvSpPr/>
          <p:nvPr/>
        </p:nvSpPr>
        <p:spPr>
          <a:xfrm>
            <a:off x="457200" y="3063240"/>
            <a:ext cx="169164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566928" y="3200400"/>
            <a:ext cx="384048" cy="384048"/>
          </a:xfrm>
          <a:prstGeom prst="ellipse">
            <a:avLst/>
          </a:prstGeom>
          <a:solidFill>
            <a:srgbClr val="D1FAE5"/>
          </a:solidFill>
          <a:ln w="6350">
            <a:solidFill>
              <a:srgbClr val="D1FAE5"/>
            </a:solidFill>
            <a:prstDash val="solid"/>
          </a:ln>
        </p:spPr>
      </p:sp>
      <p:pic>
        <p:nvPicPr>
          <p:cNvPr id="21" name="Image 0" descr="preencoded.png">    </p:cNvPr>
          <p:cNvPicPr>
            <a:picLocks noChangeAspect="1"/>
          </p:cNvPicPr>
          <p:nvPr/>
        </p:nvPicPr>
        <p:blipFill>
          <a:blip r:embed="rId1"/>
          <a:stretch>
            <a:fillRect/>
          </a:stretch>
        </p:blipFill>
        <p:spPr>
          <a:xfrm>
            <a:off x="662940" y="3296412"/>
            <a:ext cx="192024" cy="192024"/>
          </a:xfrm>
          <a:prstGeom prst="rect">
            <a:avLst/>
          </a:prstGeom>
        </p:spPr>
      </p:pic>
      <p:sp>
        <p:nvSpPr>
          <p:cNvPr id="22" name="Text 19"/>
          <p:cNvSpPr txBox="1"/>
          <p:nvPr/>
        </p:nvSpPr>
        <p:spPr>
          <a:xfrm>
            <a:off x="1024128" y="3200400"/>
            <a:ext cx="1051560" cy="384048"/>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Memory</a:t>
            </a:r>
            <a:endParaRPr lang="en-US" sz="1400" dirty="0"/>
          </a:p>
        </p:txBody>
      </p:sp>
      <p:sp>
        <p:nvSpPr>
          <p:cNvPr id="23" name="Text 20"/>
          <p:cNvSpPr txBox="1"/>
          <p:nvPr/>
        </p:nvSpPr>
        <p:spPr>
          <a:xfrm>
            <a:off x="566928" y="3657600"/>
            <a:ext cx="150876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Remembers earlier chat</a:t>
            </a:r>
            <a:endParaRPr lang="en-US" sz="1050" dirty="0"/>
          </a:p>
        </p:txBody>
      </p:sp>
      <p:sp>
        <p:nvSpPr>
          <p:cNvPr id="24" name="Shape 21"/>
          <p:cNvSpPr/>
          <p:nvPr/>
        </p:nvSpPr>
        <p:spPr>
          <a:xfrm>
            <a:off x="2240280" y="3063240"/>
            <a:ext cx="169164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5" name="Shape 22"/>
          <p:cNvSpPr/>
          <p:nvPr/>
        </p:nvSpPr>
        <p:spPr>
          <a:xfrm>
            <a:off x="2350008" y="3200400"/>
            <a:ext cx="384048" cy="384048"/>
          </a:xfrm>
          <a:prstGeom prst="ellipse">
            <a:avLst/>
          </a:prstGeom>
          <a:solidFill>
            <a:srgbClr val="D1FAE5"/>
          </a:solidFill>
          <a:ln w="6350">
            <a:solidFill>
              <a:srgbClr val="D1FAE5"/>
            </a:solidFill>
            <a:prstDash val="solid"/>
          </a:ln>
        </p:spPr>
      </p:sp>
      <p:pic>
        <p:nvPicPr>
          <p:cNvPr id="26" name="Image 1" descr="preencoded.png">    </p:cNvPr>
          <p:cNvPicPr>
            <a:picLocks noChangeAspect="1"/>
          </p:cNvPicPr>
          <p:nvPr/>
        </p:nvPicPr>
        <p:blipFill>
          <a:blip r:embed="rId2"/>
          <a:stretch>
            <a:fillRect/>
          </a:stretch>
        </p:blipFill>
        <p:spPr>
          <a:xfrm>
            <a:off x="2446020" y="3296412"/>
            <a:ext cx="192024" cy="192024"/>
          </a:xfrm>
          <a:prstGeom prst="rect">
            <a:avLst/>
          </a:prstGeom>
        </p:spPr>
      </p:pic>
      <p:sp>
        <p:nvSpPr>
          <p:cNvPr id="27" name="Text 23"/>
          <p:cNvSpPr txBox="1"/>
          <p:nvPr/>
        </p:nvSpPr>
        <p:spPr>
          <a:xfrm>
            <a:off x="2807208" y="3200400"/>
            <a:ext cx="1051560" cy="384048"/>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Your data</a:t>
            </a:r>
            <a:endParaRPr lang="en-US" sz="1400" dirty="0"/>
          </a:p>
        </p:txBody>
      </p:sp>
      <p:sp>
        <p:nvSpPr>
          <p:cNvPr id="28" name="Text 24"/>
          <p:cNvSpPr txBox="1"/>
          <p:nvPr/>
        </p:nvSpPr>
        <p:spPr>
          <a:xfrm>
            <a:off x="2350008" y="3657600"/>
            <a:ext cx="150876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Loaders, splitters, retriever</a:t>
            </a:r>
            <a:endParaRPr lang="en-US" sz="1050" dirty="0"/>
          </a:p>
        </p:txBody>
      </p:sp>
      <p:sp>
        <p:nvSpPr>
          <p:cNvPr id="29" name="Shape 25"/>
          <p:cNvSpPr/>
          <p:nvPr/>
        </p:nvSpPr>
        <p:spPr>
          <a:xfrm>
            <a:off x="4023360" y="3063240"/>
            <a:ext cx="169164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30" name="Shape 26"/>
          <p:cNvSpPr/>
          <p:nvPr/>
        </p:nvSpPr>
        <p:spPr>
          <a:xfrm>
            <a:off x="4133088" y="3200400"/>
            <a:ext cx="384048" cy="384048"/>
          </a:xfrm>
          <a:prstGeom prst="ellipse">
            <a:avLst/>
          </a:prstGeom>
          <a:solidFill>
            <a:srgbClr val="D1FAE5"/>
          </a:solidFill>
          <a:ln w="6350">
            <a:solidFill>
              <a:srgbClr val="D1FAE5"/>
            </a:solidFill>
            <a:prstDash val="solid"/>
          </a:ln>
        </p:spPr>
      </p:sp>
      <p:pic>
        <p:nvPicPr>
          <p:cNvPr id="31" name="Image 2" descr="preencoded.png">    </p:cNvPr>
          <p:cNvPicPr>
            <a:picLocks noChangeAspect="1"/>
          </p:cNvPicPr>
          <p:nvPr/>
        </p:nvPicPr>
        <p:blipFill>
          <a:blip r:embed="rId3"/>
          <a:stretch>
            <a:fillRect/>
          </a:stretch>
        </p:blipFill>
        <p:spPr>
          <a:xfrm>
            <a:off x="4229100" y="3296412"/>
            <a:ext cx="192024" cy="192024"/>
          </a:xfrm>
          <a:prstGeom prst="rect">
            <a:avLst/>
          </a:prstGeom>
        </p:spPr>
      </p:pic>
      <p:sp>
        <p:nvSpPr>
          <p:cNvPr id="32" name="Text 27"/>
          <p:cNvSpPr txBox="1"/>
          <p:nvPr/>
        </p:nvSpPr>
        <p:spPr>
          <a:xfrm>
            <a:off x="4590288" y="3200400"/>
            <a:ext cx="1051560" cy="384048"/>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Tools</a:t>
            </a:r>
            <a:endParaRPr lang="en-US" sz="1400" dirty="0"/>
          </a:p>
        </p:txBody>
      </p:sp>
      <p:sp>
        <p:nvSpPr>
          <p:cNvPr id="33" name="Text 28"/>
          <p:cNvSpPr txBox="1"/>
          <p:nvPr/>
        </p:nvSpPr>
        <p:spPr>
          <a:xfrm>
            <a:off x="4133088" y="3657600"/>
            <a:ext cx="1508760" cy="36576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Search, calculator, APIs</a:t>
            </a:r>
            <a:endParaRPr lang="en-US" sz="1050" dirty="0"/>
          </a:p>
        </p:txBody>
      </p:sp>
      <p:sp>
        <p:nvSpPr>
          <p:cNvPr id="34" name="Shape 29"/>
          <p:cNvSpPr/>
          <p:nvPr/>
        </p:nvSpPr>
        <p:spPr>
          <a:xfrm flipV="1">
            <a:off x="1097280" y="2286000"/>
            <a:ext cx="0" cy="777240"/>
          </a:xfrm>
          <a:prstGeom prst="line">
            <a:avLst/>
          </a:prstGeom>
          <a:noFill/>
          <a:ln w="25400">
            <a:solidFill>
              <a:srgbClr val="059669"/>
            </a:solidFill>
            <a:prstDash val="solid"/>
            <a:tailEnd type="triangle"/>
          </a:ln>
        </p:spPr>
      </p:sp>
      <p:sp>
        <p:nvSpPr>
          <p:cNvPr id="35" name="Shape 30"/>
          <p:cNvSpPr/>
          <p:nvPr/>
        </p:nvSpPr>
        <p:spPr>
          <a:xfrm flipV="1">
            <a:off x="3108960" y="2286000"/>
            <a:ext cx="0" cy="777240"/>
          </a:xfrm>
          <a:prstGeom prst="line">
            <a:avLst/>
          </a:prstGeom>
          <a:noFill/>
          <a:ln w="25400">
            <a:solidFill>
              <a:srgbClr val="059669"/>
            </a:solidFill>
            <a:prstDash val="solid"/>
            <a:tailEnd type="triangle"/>
          </a:ln>
        </p:spPr>
      </p:sp>
      <p:sp>
        <p:nvSpPr>
          <p:cNvPr id="36" name="Shape 31"/>
          <p:cNvSpPr/>
          <p:nvPr/>
        </p:nvSpPr>
        <p:spPr>
          <a:xfrm flipV="1">
            <a:off x="4846320" y="2286000"/>
            <a:ext cx="0" cy="777240"/>
          </a:xfrm>
          <a:prstGeom prst="line">
            <a:avLst/>
          </a:prstGeom>
          <a:noFill/>
          <a:ln w="25400">
            <a:solidFill>
              <a:srgbClr val="059669"/>
            </a:solidFill>
            <a:prstDash val="solid"/>
            <a:tailEnd type="triangle"/>
          </a:ln>
        </p:spPr>
      </p:sp>
      <p:sp>
        <p:nvSpPr>
          <p:cNvPr id="37" name="Shape 32"/>
          <p:cNvSpPr/>
          <p:nvPr/>
        </p:nvSpPr>
        <p:spPr>
          <a:xfrm>
            <a:off x="5943600" y="3063240"/>
            <a:ext cx="2743200" cy="1005840"/>
          </a:xfrm>
          <a:prstGeom prst="roundRect">
            <a:avLst>
              <a:gd name="adj" fmla="val 9091"/>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38" name="Shape 33"/>
          <p:cNvSpPr/>
          <p:nvPr/>
        </p:nvSpPr>
        <p:spPr>
          <a:xfrm>
            <a:off x="6053328" y="3200400"/>
            <a:ext cx="384048" cy="384048"/>
          </a:xfrm>
          <a:prstGeom prst="ellipse">
            <a:avLst/>
          </a:prstGeom>
          <a:solidFill>
            <a:srgbClr val="34D399"/>
          </a:solidFill>
          <a:ln w="6350">
            <a:solidFill>
              <a:srgbClr val="34D399"/>
            </a:solidFill>
            <a:prstDash val="solid"/>
          </a:ln>
        </p:spPr>
      </p:sp>
      <p:pic>
        <p:nvPicPr>
          <p:cNvPr id="39" name="Image 3" descr="preencoded.png">    </p:cNvPr>
          <p:cNvPicPr>
            <a:picLocks noChangeAspect="1"/>
          </p:cNvPicPr>
          <p:nvPr/>
        </p:nvPicPr>
        <p:blipFill>
          <a:blip r:embed="rId4"/>
          <a:stretch>
            <a:fillRect/>
          </a:stretch>
        </p:blipFill>
        <p:spPr>
          <a:xfrm>
            <a:off x="6149340" y="3296412"/>
            <a:ext cx="192024" cy="192024"/>
          </a:xfrm>
          <a:prstGeom prst="rect">
            <a:avLst/>
          </a:prstGeom>
        </p:spPr>
      </p:pic>
      <p:sp>
        <p:nvSpPr>
          <p:cNvPr id="40" name="Text 34"/>
          <p:cNvSpPr txBox="1"/>
          <p:nvPr/>
        </p:nvSpPr>
        <p:spPr>
          <a:xfrm>
            <a:off x="6510528" y="3200400"/>
            <a:ext cx="2103120" cy="38404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LangSmith</a:t>
            </a:r>
            <a:endParaRPr lang="en-US" sz="1400" dirty="0"/>
          </a:p>
        </p:txBody>
      </p:sp>
      <p:sp>
        <p:nvSpPr>
          <p:cNvPr id="41" name="Text 35"/>
          <p:cNvSpPr txBox="1"/>
          <p:nvPr/>
        </p:nvSpPr>
        <p:spPr>
          <a:xfrm>
            <a:off x="6053328" y="3657600"/>
            <a:ext cx="2560320" cy="3657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Watches every step so you can debug</a:t>
            </a:r>
            <a:endParaRPr lang="en-US" sz="1050" dirty="0"/>
          </a:p>
        </p:txBody>
      </p:sp>
      <p:sp>
        <p:nvSpPr>
          <p:cNvPr id="42" name="Shape 36"/>
          <p:cNvSpPr/>
          <p:nvPr/>
        </p:nvSpPr>
        <p:spPr>
          <a:xfrm>
            <a:off x="457200" y="4251960"/>
            <a:ext cx="8229600" cy="457200"/>
          </a:xfrm>
          <a:prstGeom prst="roundRect">
            <a:avLst>
              <a:gd name="adj" fmla="val 20000"/>
            </a:avLst>
          </a:prstGeom>
          <a:solidFill>
            <a:srgbClr val="FEF3C7"/>
          </a:solidFill>
          <a:ln/>
        </p:spPr>
      </p:sp>
      <p:sp>
        <p:nvSpPr>
          <p:cNvPr id="43" name="Text 37"/>
          <p:cNvSpPr txBox="1"/>
          <p:nvPr/>
        </p:nvSpPr>
        <p:spPr>
          <a:xfrm>
            <a:off x="685800" y="4251960"/>
            <a:ext cx="7772400" cy="457200"/>
          </a:xfrm>
          <a:prstGeom prst="rect">
            <a:avLst/>
          </a:prstGeom>
          <a:noFill/>
          <a:ln/>
        </p:spPr>
        <p:txBody>
          <a:bodyPr wrap="square" lIns="0" tIns="0" rIns="0" bIns="0" rtlCol="0" anchor="ctr"/>
          <a:lstStyle/>
          <a:p>
            <a:pPr indent="0" marL="0">
              <a:buNone/>
            </a:pPr>
            <a:r>
              <a:rPr lang="en-US" sz="1300" b="1" dirty="0">
                <a:solidFill>
                  <a:srgbClr val="78350F"/>
                </a:solidFill>
                <a:latin typeface="Calibri" pitchFamily="34" charset="0"/>
                <a:ea typeface="Calibri" pitchFamily="34" charset="-122"/>
                <a:cs typeface="Calibri" pitchFamily="34" charset="-120"/>
              </a:rPr>
              <a:t>An agent  </a:t>
            </a:r>
            <a:pPr indent="0" marL="0">
              <a:buNone/>
            </a:pPr>
            <a:r>
              <a:rPr lang="en-US" sz="1300" dirty="0">
                <a:solidFill>
                  <a:srgbClr val="78350F"/>
                </a:solidFill>
                <a:latin typeface="Calibri" pitchFamily="34" charset="0"/>
                <a:ea typeface="Calibri" pitchFamily="34" charset="-122"/>
                <a:cs typeface="Calibri" pitchFamily="34" charset="-120"/>
              </a:rPr>
              <a:t>is this same picture, but the model also decides which tools to use, in a loop.</a:t>
            </a:r>
            <a:endParaRPr lang="en-US" sz="13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THE BASICS</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LangChain family</a:t>
            </a:r>
            <a:endParaRPr lang="en-US" sz="3200" dirty="0"/>
          </a:p>
        </p:txBody>
      </p:sp>
      <p:sp>
        <p:nvSpPr>
          <p:cNvPr id="4" name="Shape 2"/>
          <p:cNvSpPr/>
          <p:nvPr/>
        </p:nvSpPr>
        <p:spPr>
          <a:xfrm>
            <a:off x="457200" y="128016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594360" y="1417320"/>
            <a:ext cx="411480" cy="411480"/>
          </a:xfrm>
          <a:prstGeom prst="ellipse">
            <a:avLst/>
          </a:prstGeom>
          <a:solidFill>
            <a:srgbClr val="D1FAE5"/>
          </a:solidFill>
          <a:ln w="6350">
            <a:solidFill>
              <a:srgbClr val="D1FAE5"/>
            </a:solidFill>
            <a:prstDash val="solid"/>
          </a:ln>
        </p:spPr>
      </p:sp>
      <p:pic>
        <p:nvPicPr>
          <p:cNvPr id="6" name="Image 0" descr="preencoded.png">    </p:cNvPr>
          <p:cNvPicPr>
            <a:picLocks noChangeAspect="1"/>
          </p:cNvPicPr>
          <p:nvPr/>
        </p:nvPicPr>
        <p:blipFill>
          <a:blip r:embed="rId1"/>
          <a:stretch>
            <a:fillRect/>
          </a:stretch>
        </p:blipFill>
        <p:spPr>
          <a:xfrm>
            <a:off x="697230" y="1520190"/>
            <a:ext cx="205740" cy="205740"/>
          </a:xfrm>
          <a:prstGeom prst="rect">
            <a:avLst/>
          </a:prstGeom>
        </p:spPr>
      </p:pic>
      <p:sp>
        <p:nvSpPr>
          <p:cNvPr id="7" name="Text 4"/>
          <p:cNvSpPr txBox="1"/>
          <p:nvPr/>
        </p:nvSpPr>
        <p:spPr>
          <a:xfrm>
            <a:off x="594360" y="190195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langchain-core</a:t>
            </a:r>
            <a:endParaRPr lang="en-US" sz="1050" dirty="0"/>
          </a:p>
        </p:txBody>
      </p:sp>
      <p:sp>
        <p:nvSpPr>
          <p:cNvPr id="8" name="Text 5"/>
          <p:cNvSpPr txBox="1"/>
          <p:nvPr/>
        </p:nvSpPr>
        <p:spPr>
          <a:xfrm>
            <a:off x="594360" y="217627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The base: messages, prompts, runnables, tools.</a:t>
            </a:r>
            <a:endParaRPr lang="en-US" sz="1050" dirty="0"/>
          </a:p>
        </p:txBody>
      </p:sp>
      <p:sp>
        <p:nvSpPr>
          <p:cNvPr id="9" name="Shape 6"/>
          <p:cNvSpPr/>
          <p:nvPr/>
        </p:nvSpPr>
        <p:spPr>
          <a:xfrm>
            <a:off x="2560320" y="128016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2697480" y="1417320"/>
            <a:ext cx="411480" cy="411480"/>
          </a:xfrm>
          <a:prstGeom prst="ellipse">
            <a:avLst/>
          </a:prstGeom>
          <a:solidFill>
            <a:srgbClr val="D1FAE5"/>
          </a:solidFill>
          <a:ln w="6350">
            <a:solidFill>
              <a:srgbClr val="D1FAE5"/>
            </a:solidFill>
            <a:prstDash val="solid"/>
          </a:ln>
        </p:spPr>
      </p:sp>
      <p:pic>
        <p:nvPicPr>
          <p:cNvPr id="11" name="Image 1" descr="preencoded.png">    </p:cNvPr>
          <p:cNvPicPr>
            <a:picLocks noChangeAspect="1"/>
          </p:cNvPicPr>
          <p:nvPr/>
        </p:nvPicPr>
        <p:blipFill>
          <a:blip r:embed="rId2"/>
          <a:stretch>
            <a:fillRect/>
          </a:stretch>
        </p:blipFill>
        <p:spPr>
          <a:xfrm>
            <a:off x="2800350" y="1520190"/>
            <a:ext cx="205740" cy="205740"/>
          </a:xfrm>
          <a:prstGeom prst="rect">
            <a:avLst/>
          </a:prstGeom>
        </p:spPr>
      </p:pic>
      <p:sp>
        <p:nvSpPr>
          <p:cNvPr id="12" name="Text 8"/>
          <p:cNvSpPr txBox="1"/>
          <p:nvPr/>
        </p:nvSpPr>
        <p:spPr>
          <a:xfrm>
            <a:off x="2697480" y="190195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langchain</a:t>
            </a:r>
            <a:endParaRPr lang="en-US" sz="1050" dirty="0"/>
          </a:p>
        </p:txBody>
      </p:sp>
      <p:sp>
        <p:nvSpPr>
          <p:cNvPr id="13" name="Text 9"/>
          <p:cNvSpPr txBox="1"/>
          <p:nvPr/>
        </p:nvSpPr>
        <p:spPr>
          <a:xfrm>
            <a:off x="2697480" y="217627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The main package: create_agent, init_chat_model.</a:t>
            </a:r>
            <a:endParaRPr lang="en-US" sz="1050" dirty="0"/>
          </a:p>
        </p:txBody>
      </p:sp>
      <p:sp>
        <p:nvSpPr>
          <p:cNvPr id="14" name="Shape 10"/>
          <p:cNvSpPr/>
          <p:nvPr/>
        </p:nvSpPr>
        <p:spPr>
          <a:xfrm>
            <a:off x="4663440" y="128016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4800600" y="1417320"/>
            <a:ext cx="411480" cy="411480"/>
          </a:xfrm>
          <a:prstGeom prst="ellipse">
            <a:avLst/>
          </a:prstGeom>
          <a:solidFill>
            <a:srgbClr val="D1FAE5"/>
          </a:solidFill>
          <a:ln w="6350">
            <a:solidFill>
              <a:srgbClr val="D1FAE5"/>
            </a:solidFill>
            <a:prstDash val="solid"/>
          </a:ln>
        </p:spPr>
      </p:sp>
      <p:pic>
        <p:nvPicPr>
          <p:cNvPr id="16" name="Image 2" descr="preencoded.png">    </p:cNvPr>
          <p:cNvPicPr>
            <a:picLocks noChangeAspect="1"/>
          </p:cNvPicPr>
          <p:nvPr/>
        </p:nvPicPr>
        <p:blipFill>
          <a:blip r:embed="rId3"/>
          <a:stretch>
            <a:fillRect/>
          </a:stretch>
        </p:blipFill>
        <p:spPr>
          <a:xfrm>
            <a:off x="4903470" y="1520190"/>
            <a:ext cx="205740" cy="205740"/>
          </a:xfrm>
          <a:prstGeom prst="rect">
            <a:avLst/>
          </a:prstGeom>
        </p:spPr>
      </p:pic>
      <p:sp>
        <p:nvSpPr>
          <p:cNvPr id="17" name="Text 12"/>
          <p:cNvSpPr txBox="1"/>
          <p:nvPr/>
        </p:nvSpPr>
        <p:spPr>
          <a:xfrm>
            <a:off x="4800600" y="190195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Partner packages</a:t>
            </a:r>
            <a:endParaRPr lang="en-US" sz="1050" dirty="0"/>
          </a:p>
        </p:txBody>
      </p:sp>
      <p:sp>
        <p:nvSpPr>
          <p:cNvPr id="18" name="Text 13"/>
          <p:cNvSpPr txBox="1"/>
          <p:nvPr/>
        </p:nvSpPr>
        <p:spPr>
          <a:xfrm>
            <a:off x="4800600" y="217627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One per provider, like -openai, -aws, -cohere.</a:t>
            </a:r>
            <a:endParaRPr lang="en-US" sz="1050" dirty="0"/>
          </a:p>
        </p:txBody>
      </p:sp>
      <p:sp>
        <p:nvSpPr>
          <p:cNvPr id="19" name="Shape 14"/>
          <p:cNvSpPr/>
          <p:nvPr/>
        </p:nvSpPr>
        <p:spPr>
          <a:xfrm>
            <a:off x="6766560" y="128016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6903720" y="1417320"/>
            <a:ext cx="411480" cy="411480"/>
          </a:xfrm>
          <a:prstGeom prst="ellipse">
            <a:avLst/>
          </a:prstGeom>
          <a:solidFill>
            <a:srgbClr val="D1FAE5"/>
          </a:solidFill>
          <a:ln w="6350">
            <a:solidFill>
              <a:srgbClr val="D1FAE5"/>
            </a:solidFill>
            <a:prstDash val="solid"/>
          </a:ln>
        </p:spPr>
      </p:sp>
      <p:pic>
        <p:nvPicPr>
          <p:cNvPr id="21" name="Image 3" descr="preencoded.png">    </p:cNvPr>
          <p:cNvPicPr>
            <a:picLocks noChangeAspect="1"/>
          </p:cNvPicPr>
          <p:nvPr/>
        </p:nvPicPr>
        <p:blipFill>
          <a:blip r:embed="rId4"/>
          <a:stretch>
            <a:fillRect/>
          </a:stretch>
        </p:blipFill>
        <p:spPr>
          <a:xfrm>
            <a:off x="7006590" y="1520190"/>
            <a:ext cx="205740" cy="205740"/>
          </a:xfrm>
          <a:prstGeom prst="rect">
            <a:avLst/>
          </a:prstGeom>
        </p:spPr>
      </p:pic>
      <p:sp>
        <p:nvSpPr>
          <p:cNvPr id="22" name="Text 16"/>
          <p:cNvSpPr txBox="1"/>
          <p:nvPr/>
        </p:nvSpPr>
        <p:spPr>
          <a:xfrm>
            <a:off x="6903720" y="190195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langchain-community</a:t>
            </a:r>
            <a:endParaRPr lang="en-US" sz="1050" dirty="0"/>
          </a:p>
        </p:txBody>
      </p:sp>
      <p:sp>
        <p:nvSpPr>
          <p:cNvPr id="23" name="Text 17"/>
          <p:cNvSpPr txBox="1"/>
          <p:nvPr/>
        </p:nvSpPr>
        <p:spPr>
          <a:xfrm>
            <a:off x="6903720" y="217627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Many loaders and third-party integrations.</a:t>
            </a:r>
            <a:endParaRPr lang="en-US" sz="1050" dirty="0"/>
          </a:p>
        </p:txBody>
      </p:sp>
      <p:sp>
        <p:nvSpPr>
          <p:cNvPr id="24" name="Shape 18"/>
          <p:cNvSpPr/>
          <p:nvPr/>
        </p:nvSpPr>
        <p:spPr>
          <a:xfrm>
            <a:off x="457200" y="283464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594360" y="2971800"/>
            <a:ext cx="411480" cy="411480"/>
          </a:xfrm>
          <a:prstGeom prst="ellipse">
            <a:avLst/>
          </a:prstGeom>
          <a:solidFill>
            <a:srgbClr val="D1FAE5"/>
          </a:solidFill>
          <a:ln w="6350">
            <a:solidFill>
              <a:srgbClr val="D1FAE5"/>
            </a:solidFill>
            <a:prstDash val="solid"/>
          </a:ln>
        </p:spPr>
      </p:sp>
      <p:pic>
        <p:nvPicPr>
          <p:cNvPr id="26" name="Image 4" descr="preencoded.png">    </p:cNvPr>
          <p:cNvPicPr>
            <a:picLocks noChangeAspect="1"/>
          </p:cNvPicPr>
          <p:nvPr/>
        </p:nvPicPr>
        <p:blipFill>
          <a:blip r:embed="rId5"/>
          <a:stretch>
            <a:fillRect/>
          </a:stretch>
        </p:blipFill>
        <p:spPr>
          <a:xfrm>
            <a:off x="697230" y="3074670"/>
            <a:ext cx="205740" cy="205740"/>
          </a:xfrm>
          <a:prstGeom prst="rect">
            <a:avLst/>
          </a:prstGeom>
        </p:spPr>
      </p:pic>
      <p:sp>
        <p:nvSpPr>
          <p:cNvPr id="27" name="Text 20"/>
          <p:cNvSpPr txBox="1"/>
          <p:nvPr/>
        </p:nvSpPr>
        <p:spPr>
          <a:xfrm>
            <a:off x="594360" y="345643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text-splitters</a:t>
            </a:r>
            <a:endParaRPr lang="en-US" sz="1050" dirty="0"/>
          </a:p>
        </p:txBody>
      </p:sp>
      <p:sp>
        <p:nvSpPr>
          <p:cNvPr id="28" name="Text 21"/>
          <p:cNvSpPr txBox="1"/>
          <p:nvPr/>
        </p:nvSpPr>
        <p:spPr>
          <a:xfrm>
            <a:off x="594360" y="373075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Cuts long text into small chunks.</a:t>
            </a:r>
            <a:endParaRPr lang="en-US" sz="1050" dirty="0"/>
          </a:p>
        </p:txBody>
      </p:sp>
      <p:sp>
        <p:nvSpPr>
          <p:cNvPr id="29" name="Shape 22"/>
          <p:cNvSpPr/>
          <p:nvPr/>
        </p:nvSpPr>
        <p:spPr>
          <a:xfrm>
            <a:off x="2560320" y="283464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2697480" y="2971800"/>
            <a:ext cx="411480" cy="411480"/>
          </a:xfrm>
          <a:prstGeom prst="ellipse">
            <a:avLst/>
          </a:prstGeom>
          <a:solidFill>
            <a:srgbClr val="D1FAE5"/>
          </a:solidFill>
          <a:ln w="6350">
            <a:solidFill>
              <a:srgbClr val="D1FAE5"/>
            </a:solidFill>
            <a:prstDash val="solid"/>
          </a:ln>
        </p:spPr>
      </p:sp>
      <p:pic>
        <p:nvPicPr>
          <p:cNvPr id="31" name="Image 5" descr="preencoded.png">    </p:cNvPr>
          <p:cNvPicPr>
            <a:picLocks noChangeAspect="1"/>
          </p:cNvPicPr>
          <p:nvPr/>
        </p:nvPicPr>
        <p:blipFill>
          <a:blip r:embed="rId6"/>
          <a:stretch>
            <a:fillRect/>
          </a:stretch>
        </p:blipFill>
        <p:spPr>
          <a:xfrm>
            <a:off x="2800350" y="3074670"/>
            <a:ext cx="205740" cy="205740"/>
          </a:xfrm>
          <a:prstGeom prst="rect">
            <a:avLst/>
          </a:prstGeom>
        </p:spPr>
      </p:pic>
      <p:sp>
        <p:nvSpPr>
          <p:cNvPr id="32" name="Text 24"/>
          <p:cNvSpPr txBox="1"/>
          <p:nvPr/>
        </p:nvSpPr>
        <p:spPr>
          <a:xfrm>
            <a:off x="2697480" y="345643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LangGraph</a:t>
            </a:r>
            <a:endParaRPr lang="en-US" sz="1050" dirty="0"/>
          </a:p>
        </p:txBody>
      </p:sp>
      <p:sp>
        <p:nvSpPr>
          <p:cNvPr id="33" name="Text 25"/>
          <p:cNvSpPr txBox="1"/>
          <p:nvPr/>
        </p:nvSpPr>
        <p:spPr>
          <a:xfrm>
            <a:off x="2697480" y="373075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Build agents as graphs, with full control.</a:t>
            </a:r>
            <a:endParaRPr lang="en-US" sz="1050" dirty="0"/>
          </a:p>
        </p:txBody>
      </p:sp>
      <p:sp>
        <p:nvSpPr>
          <p:cNvPr id="34" name="Shape 26"/>
          <p:cNvSpPr/>
          <p:nvPr/>
        </p:nvSpPr>
        <p:spPr>
          <a:xfrm>
            <a:off x="4663440" y="283464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35" name="Shape 27"/>
          <p:cNvSpPr/>
          <p:nvPr/>
        </p:nvSpPr>
        <p:spPr>
          <a:xfrm>
            <a:off x="4800600" y="2971800"/>
            <a:ext cx="411480" cy="411480"/>
          </a:xfrm>
          <a:prstGeom prst="ellipse">
            <a:avLst/>
          </a:prstGeom>
          <a:solidFill>
            <a:srgbClr val="D1FAE5"/>
          </a:solidFill>
          <a:ln w="6350">
            <a:solidFill>
              <a:srgbClr val="D1FAE5"/>
            </a:solidFill>
            <a:prstDash val="solid"/>
          </a:ln>
        </p:spPr>
      </p:sp>
      <p:pic>
        <p:nvPicPr>
          <p:cNvPr id="36" name="Image 6" descr="preencoded.png">    </p:cNvPr>
          <p:cNvPicPr>
            <a:picLocks noChangeAspect="1"/>
          </p:cNvPicPr>
          <p:nvPr/>
        </p:nvPicPr>
        <p:blipFill>
          <a:blip r:embed="rId7"/>
          <a:stretch>
            <a:fillRect/>
          </a:stretch>
        </p:blipFill>
        <p:spPr>
          <a:xfrm>
            <a:off x="4903470" y="3074670"/>
            <a:ext cx="205740" cy="205740"/>
          </a:xfrm>
          <a:prstGeom prst="rect">
            <a:avLst/>
          </a:prstGeom>
        </p:spPr>
      </p:pic>
      <p:sp>
        <p:nvSpPr>
          <p:cNvPr id="37" name="Text 28"/>
          <p:cNvSpPr txBox="1"/>
          <p:nvPr/>
        </p:nvSpPr>
        <p:spPr>
          <a:xfrm>
            <a:off x="4800600" y="345643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LangSmith</a:t>
            </a:r>
            <a:endParaRPr lang="en-US" sz="1050" dirty="0"/>
          </a:p>
        </p:txBody>
      </p:sp>
      <p:sp>
        <p:nvSpPr>
          <p:cNvPr id="38" name="Text 29"/>
          <p:cNvSpPr txBox="1"/>
          <p:nvPr/>
        </p:nvSpPr>
        <p:spPr>
          <a:xfrm>
            <a:off x="4800600" y="373075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Tracing, testing and monitoring (a hosted service).</a:t>
            </a:r>
            <a:endParaRPr lang="en-US" sz="1050" dirty="0"/>
          </a:p>
        </p:txBody>
      </p:sp>
      <p:sp>
        <p:nvSpPr>
          <p:cNvPr id="39" name="Shape 30"/>
          <p:cNvSpPr/>
          <p:nvPr/>
        </p:nvSpPr>
        <p:spPr>
          <a:xfrm>
            <a:off x="6766560" y="2834640"/>
            <a:ext cx="1965960" cy="1417320"/>
          </a:xfrm>
          <a:prstGeom prst="roundRect">
            <a:avLst>
              <a:gd name="adj" fmla="val 6452"/>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40" name="Shape 31"/>
          <p:cNvSpPr/>
          <p:nvPr/>
        </p:nvSpPr>
        <p:spPr>
          <a:xfrm>
            <a:off x="6903720" y="2971800"/>
            <a:ext cx="411480" cy="411480"/>
          </a:xfrm>
          <a:prstGeom prst="ellipse">
            <a:avLst/>
          </a:prstGeom>
          <a:solidFill>
            <a:srgbClr val="D1FAE5"/>
          </a:solidFill>
          <a:ln w="6350">
            <a:solidFill>
              <a:srgbClr val="D1FAE5"/>
            </a:solidFill>
            <a:prstDash val="solid"/>
          </a:ln>
        </p:spPr>
      </p:sp>
      <p:pic>
        <p:nvPicPr>
          <p:cNvPr id="41" name="Image 7" descr="preencoded.png">    </p:cNvPr>
          <p:cNvPicPr>
            <a:picLocks noChangeAspect="1"/>
          </p:cNvPicPr>
          <p:nvPr/>
        </p:nvPicPr>
        <p:blipFill>
          <a:blip r:embed="rId8"/>
          <a:stretch>
            <a:fillRect/>
          </a:stretch>
        </p:blipFill>
        <p:spPr>
          <a:xfrm>
            <a:off x="7006590" y="3074670"/>
            <a:ext cx="205740" cy="205740"/>
          </a:xfrm>
          <a:prstGeom prst="rect">
            <a:avLst/>
          </a:prstGeom>
        </p:spPr>
      </p:pic>
      <p:sp>
        <p:nvSpPr>
          <p:cNvPr id="42" name="Text 32"/>
          <p:cNvSpPr txBox="1"/>
          <p:nvPr/>
        </p:nvSpPr>
        <p:spPr>
          <a:xfrm>
            <a:off x="6903720" y="3456432"/>
            <a:ext cx="1783080" cy="274320"/>
          </a:xfrm>
          <a:prstGeom prst="rect">
            <a:avLst/>
          </a:prstGeom>
          <a:noFill/>
          <a:ln/>
        </p:spPr>
        <p:txBody>
          <a:bodyPr wrap="square" lIns="0" tIns="0" rIns="0" bIns="0" rtlCol="0" anchor="t"/>
          <a:lstStyle/>
          <a:p>
            <a:pPr indent="0" marL="0">
              <a:buNone/>
            </a:pPr>
            <a:r>
              <a:rPr lang="en-US" sz="1050" b="1" dirty="0">
                <a:solidFill>
                  <a:srgbClr val="047857"/>
                </a:solidFill>
                <a:latin typeface="Courier New" pitchFamily="34" charset="0"/>
                <a:ea typeface="Courier New" pitchFamily="34" charset="-122"/>
                <a:cs typeface="Courier New" pitchFamily="34" charset="-120"/>
              </a:rPr>
              <a:t>langchain-classic</a:t>
            </a:r>
            <a:endParaRPr lang="en-US" sz="1050" dirty="0"/>
          </a:p>
        </p:txBody>
      </p:sp>
      <p:sp>
        <p:nvSpPr>
          <p:cNvPr id="43" name="Text 33"/>
          <p:cNvSpPr txBox="1"/>
          <p:nvPr/>
        </p:nvSpPr>
        <p:spPr>
          <a:xfrm>
            <a:off x="6903720" y="3730752"/>
            <a:ext cx="173736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Older chains and memory classes, kept for old code.</a:t>
            </a:r>
            <a:endParaRPr lang="en-US" sz="1050" dirty="0"/>
          </a:p>
        </p:txBody>
      </p:sp>
      <p:sp>
        <p:nvSpPr>
          <p:cNvPr id="44" name="Shape 34"/>
          <p:cNvSpPr/>
          <p:nvPr/>
        </p:nvSpPr>
        <p:spPr>
          <a:xfrm>
            <a:off x="457200" y="4434840"/>
            <a:ext cx="8229600" cy="320040"/>
          </a:xfrm>
          <a:prstGeom prst="roundRect">
            <a:avLst>
              <a:gd name="adj" fmla="val 22857"/>
            </a:avLst>
          </a:prstGeom>
          <a:solidFill>
            <a:srgbClr val="E2E8F0"/>
          </a:solidFill>
          <a:ln/>
        </p:spPr>
      </p:sp>
      <p:sp>
        <p:nvSpPr>
          <p:cNvPr id="45" name="Text 35"/>
          <p:cNvSpPr txBox="1"/>
          <p:nvPr/>
        </p:nvSpPr>
        <p:spPr>
          <a:xfrm>
            <a:off x="640080" y="4434840"/>
            <a:ext cx="786384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Install only what you need:  </a:t>
            </a:r>
            <a:pPr indent="0" marL="0">
              <a:buNone/>
            </a:pPr>
            <a:r>
              <a:rPr lang="en-US" sz="1200" dirty="0">
                <a:solidFill>
                  <a:srgbClr val="047857"/>
                </a:solidFill>
                <a:latin typeface="Courier New" pitchFamily="34" charset="0"/>
                <a:ea typeface="Courier New" pitchFamily="34" charset="-122"/>
                <a:cs typeface="Courier New" pitchFamily="34" charset="-120"/>
              </a:rPr>
              <a:t>pip install langchain langchain-openai</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CORE BLOCKS · 1</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Models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The AI brain. You send it text, and it sends text back.</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phone you can plug any SIM card into. Same phone, different provider.</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Chat models take messages and reply with a message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Works with OpenAI, Claude, Gemini, Cohere, Bedrock, Ollama and more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Switch provider by changing one string</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from langchain.chat_models import init_chat_model</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llm = init_chat_model("openai:gpt-4o-mini")</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change the text above to switch provider</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reply = llm.invoke("What is LangChain?")</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print(reply.content)</a:t>
            </a:r>
            <a:endParaRPr lang="en-US" sz="9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need an AI to write, answer, summarize or decide.</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CORE BLOCKS · 2</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Messages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The pieces of a conversation. Each one has a role and some text.</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chat app. Every bubble shows who said it and what they said.</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SystemMessage: sets the AI's role and rules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HumanMessage: what the user says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AIMessage: what the model replied</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ToolMessage: the result from a tool</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from langchain_core.messages import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SystemMessage, HumanMessage)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llm.invoke([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SystemMessage("You are a pirate."),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HumanMessage("Say hello"),</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want to control the AI's behaviour or keep a conversation history.</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CORE BLOCKS · 3</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Prompt templates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reusable prompt with blanks {like_this} that you fill in later.</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form letter. The text is fixed, and only the name and date change.</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Write the prompt once, reuse it many times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Blanks keep your prompt clean and safe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Can hold system and human messages together</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050" dirty="0">
                <a:solidFill>
                  <a:srgbClr val="E2E8F0"/>
                </a:solidFill>
                <a:latin typeface="Courier New" pitchFamily="34" charset="0"/>
                <a:ea typeface="Courier New" pitchFamily="34" charset="-122"/>
                <a:cs typeface="Courier New" pitchFamily="34" charset="-120"/>
              </a:rPr>
              <a:t>from langchain_core.prompts import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ChatPromptTemplate)</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prompt = ChatPromptTemplate.from_messages([</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("system", "You are a {role}."),</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("human", "{question}"),</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prompt.invoke({"role": "teacher",</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"question": "What is AI?"})</a:t>
            </a:r>
            <a:endParaRPr lang="en-US" sz="10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the same prompt is used again and again with different inputs.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CORE BLOCKS ·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Output parsers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Turns the model's reply into the format your code needs.</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sorting machine at the end of a conveyor belt. Messy in, tidy out.</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StrOutputParser: gives plain text</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Structured output: gives a Python object with named fields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Pydantic checks the data is correct</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050" dirty="0">
                <a:solidFill>
                  <a:srgbClr val="E2E8F0"/>
                </a:solidFill>
                <a:latin typeface="Courier New" pitchFamily="34" charset="0"/>
                <a:ea typeface="Courier New" pitchFamily="34" charset="-122"/>
                <a:cs typeface="Courier New" pitchFamily="34" charset="-120"/>
              </a:rPr>
              <a:t>from langchain_core.output_parsers import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StrOutputParser)</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from pydantic import BaseModel</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text = StrOutputParser()   # plain string</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class Person(BaseModel):</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name: str</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age: int</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llm.with_structured_output(Person)</a:t>
            </a:r>
            <a:endParaRPr lang="en-US" sz="10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need clean text, JSON or an object instead of a long reply.</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CORE BLOCKS · 5</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Chains and the pipe |</a:t>
            </a:r>
            <a:endParaRPr lang="en-US" sz="3200" dirty="0"/>
          </a:p>
        </p:txBody>
      </p:sp>
      <p:sp>
        <p:nvSpPr>
          <p:cNvPr id="4" name="Shape 2"/>
          <p:cNvSpPr/>
          <p:nvPr/>
        </p:nvSpPr>
        <p:spPr>
          <a:xfrm>
            <a:off x="457200" y="1280160"/>
            <a:ext cx="2194560" cy="914400"/>
          </a:xfrm>
          <a:prstGeom prst="roundRect">
            <a:avLst>
              <a:gd name="adj" fmla="val 10000"/>
            </a:avLst>
          </a:prstGeom>
          <a:solidFill>
            <a:srgbClr val="FFFFFF"/>
          </a:solidFill>
          <a:ln w="19050">
            <a:solidFill>
              <a:srgbClr val="059669"/>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508760"/>
            <a:ext cx="457200" cy="457200"/>
          </a:xfrm>
          <a:prstGeom prst="ellipse">
            <a:avLst/>
          </a:prstGeom>
          <a:solidFill>
            <a:srgbClr val="D1FAE5"/>
          </a:solidFill>
          <a:ln w="6350">
            <a:solidFill>
              <a:srgbClr val="D1FAE5"/>
            </a:solidFill>
            <a:prstDash val="solid"/>
          </a:ln>
        </p:spPr>
      </p:sp>
      <p:pic>
        <p:nvPicPr>
          <p:cNvPr id="6" name="Image 0" descr="preencoded.png">    </p:cNvPr>
          <p:cNvPicPr>
            <a:picLocks noChangeAspect="1"/>
          </p:cNvPicPr>
          <p:nvPr/>
        </p:nvPicPr>
        <p:blipFill>
          <a:blip r:embed="rId1"/>
          <a:stretch>
            <a:fillRect/>
          </a:stretch>
        </p:blipFill>
        <p:spPr>
          <a:xfrm>
            <a:off x="754380" y="1623060"/>
            <a:ext cx="228600" cy="228600"/>
          </a:xfrm>
          <a:prstGeom prst="rect">
            <a:avLst/>
          </a:prstGeom>
        </p:spPr>
      </p:pic>
      <p:sp>
        <p:nvSpPr>
          <p:cNvPr id="7" name="Text 4"/>
          <p:cNvSpPr txBox="1"/>
          <p:nvPr/>
        </p:nvSpPr>
        <p:spPr>
          <a:xfrm>
            <a:off x="1234440" y="1280160"/>
            <a:ext cx="1325880" cy="9144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Prompt</a:t>
            </a:r>
            <a:endParaRPr lang="en-US" sz="1800" dirty="0"/>
          </a:p>
        </p:txBody>
      </p:sp>
      <p:sp>
        <p:nvSpPr>
          <p:cNvPr id="8" name="Text 5"/>
          <p:cNvSpPr txBox="1"/>
          <p:nvPr/>
        </p:nvSpPr>
        <p:spPr>
          <a:xfrm>
            <a:off x="2651760" y="1280160"/>
            <a:ext cx="594360" cy="914400"/>
          </a:xfrm>
          <a:prstGeom prst="rect">
            <a:avLst/>
          </a:prstGeom>
          <a:noFill/>
          <a:ln/>
        </p:spPr>
        <p:txBody>
          <a:bodyPr wrap="square" lIns="0" tIns="0" rIns="0" bIns="0" rtlCol="0" anchor="ctr"/>
          <a:lstStyle/>
          <a:p>
            <a:pPr algn="ctr" indent="0" marL="0">
              <a:buNone/>
            </a:pPr>
            <a:r>
              <a:rPr lang="en-US" sz="4000" b="1" dirty="0">
                <a:solidFill>
                  <a:srgbClr val="059669"/>
                </a:solidFill>
                <a:latin typeface="Courier New" pitchFamily="34" charset="0"/>
                <a:ea typeface="Courier New" pitchFamily="34" charset="-122"/>
                <a:cs typeface="Courier New" pitchFamily="34" charset="-120"/>
              </a:rPr>
              <a:t>|</a:t>
            </a:r>
            <a:endParaRPr lang="en-US" sz="4000" dirty="0"/>
          </a:p>
        </p:txBody>
      </p:sp>
      <p:sp>
        <p:nvSpPr>
          <p:cNvPr id="9" name="Shape 6"/>
          <p:cNvSpPr/>
          <p:nvPr/>
        </p:nvSpPr>
        <p:spPr>
          <a:xfrm>
            <a:off x="3246120" y="1280160"/>
            <a:ext cx="2194560" cy="914400"/>
          </a:xfrm>
          <a:prstGeom prst="roundRect">
            <a:avLst>
              <a:gd name="adj" fmla="val 10000"/>
            </a:avLst>
          </a:prstGeom>
          <a:solidFill>
            <a:srgbClr val="FFFFFF"/>
          </a:solidFill>
          <a:ln w="19050">
            <a:solidFill>
              <a:srgbClr val="059669"/>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429000" y="1508760"/>
            <a:ext cx="457200" cy="457200"/>
          </a:xfrm>
          <a:prstGeom prst="ellipse">
            <a:avLst/>
          </a:prstGeom>
          <a:solidFill>
            <a:srgbClr val="D1FAE5"/>
          </a:solidFill>
          <a:ln w="6350">
            <a:solidFill>
              <a:srgbClr val="D1FAE5"/>
            </a:solidFill>
            <a:prstDash val="solid"/>
          </a:ln>
        </p:spPr>
      </p:sp>
      <p:pic>
        <p:nvPicPr>
          <p:cNvPr id="11" name="Image 1" descr="preencoded.png">    </p:cNvPr>
          <p:cNvPicPr>
            <a:picLocks noChangeAspect="1"/>
          </p:cNvPicPr>
          <p:nvPr/>
        </p:nvPicPr>
        <p:blipFill>
          <a:blip r:embed="rId2"/>
          <a:stretch>
            <a:fillRect/>
          </a:stretch>
        </p:blipFill>
        <p:spPr>
          <a:xfrm>
            <a:off x="3543300" y="1623060"/>
            <a:ext cx="228600" cy="228600"/>
          </a:xfrm>
          <a:prstGeom prst="rect">
            <a:avLst/>
          </a:prstGeom>
        </p:spPr>
      </p:pic>
      <p:sp>
        <p:nvSpPr>
          <p:cNvPr id="12" name="Text 8"/>
          <p:cNvSpPr txBox="1"/>
          <p:nvPr/>
        </p:nvSpPr>
        <p:spPr>
          <a:xfrm>
            <a:off x="4023360" y="1280160"/>
            <a:ext cx="1325880" cy="9144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Model</a:t>
            </a:r>
            <a:endParaRPr lang="en-US" sz="1800" dirty="0"/>
          </a:p>
        </p:txBody>
      </p:sp>
      <p:sp>
        <p:nvSpPr>
          <p:cNvPr id="13" name="Text 9"/>
          <p:cNvSpPr txBox="1"/>
          <p:nvPr/>
        </p:nvSpPr>
        <p:spPr>
          <a:xfrm>
            <a:off x="5440680" y="1280160"/>
            <a:ext cx="594360" cy="914400"/>
          </a:xfrm>
          <a:prstGeom prst="rect">
            <a:avLst/>
          </a:prstGeom>
          <a:noFill/>
          <a:ln/>
        </p:spPr>
        <p:txBody>
          <a:bodyPr wrap="square" lIns="0" tIns="0" rIns="0" bIns="0" rtlCol="0" anchor="ctr"/>
          <a:lstStyle/>
          <a:p>
            <a:pPr algn="ctr" indent="0" marL="0">
              <a:buNone/>
            </a:pPr>
            <a:r>
              <a:rPr lang="en-US" sz="4000" b="1" dirty="0">
                <a:solidFill>
                  <a:srgbClr val="059669"/>
                </a:solidFill>
                <a:latin typeface="Courier New" pitchFamily="34" charset="0"/>
                <a:ea typeface="Courier New" pitchFamily="34" charset="-122"/>
                <a:cs typeface="Courier New" pitchFamily="34" charset="-120"/>
              </a:rPr>
              <a:t>|</a:t>
            </a:r>
            <a:endParaRPr lang="en-US" sz="4000" dirty="0"/>
          </a:p>
        </p:txBody>
      </p:sp>
      <p:sp>
        <p:nvSpPr>
          <p:cNvPr id="14" name="Shape 10"/>
          <p:cNvSpPr/>
          <p:nvPr/>
        </p:nvSpPr>
        <p:spPr>
          <a:xfrm>
            <a:off x="6035040" y="1280160"/>
            <a:ext cx="2194560" cy="914400"/>
          </a:xfrm>
          <a:prstGeom prst="roundRect">
            <a:avLst>
              <a:gd name="adj" fmla="val 10000"/>
            </a:avLst>
          </a:prstGeom>
          <a:solidFill>
            <a:srgbClr val="FFFFFF"/>
          </a:solidFill>
          <a:ln w="19050">
            <a:solidFill>
              <a:srgbClr val="059669"/>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6217920" y="1508760"/>
            <a:ext cx="457200" cy="457200"/>
          </a:xfrm>
          <a:prstGeom prst="ellipse">
            <a:avLst/>
          </a:prstGeom>
          <a:solidFill>
            <a:srgbClr val="D1FAE5"/>
          </a:solidFill>
          <a:ln w="6350">
            <a:solidFill>
              <a:srgbClr val="D1FAE5"/>
            </a:solidFill>
            <a:prstDash val="solid"/>
          </a:ln>
        </p:spPr>
      </p:sp>
      <p:pic>
        <p:nvPicPr>
          <p:cNvPr id="16" name="Image 2" descr="preencoded.png">    </p:cNvPr>
          <p:cNvPicPr>
            <a:picLocks noChangeAspect="1"/>
          </p:cNvPicPr>
          <p:nvPr/>
        </p:nvPicPr>
        <p:blipFill>
          <a:blip r:embed="rId3"/>
          <a:stretch>
            <a:fillRect/>
          </a:stretch>
        </p:blipFill>
        <p:spPr>
          <a:xfrm>
            <a:off x="6332220" y="1623060"/>
            <a:ext cx="228600" cy="228600"/>
          </a:xfrm>
          <a:prstGeom prst="rect">
            <a:avLst/>
          </a:prstGeom>
        </p:spPr>
      </p:pic>
      <p:sp>
        <p:nvSpPr>
          <p:cNvPr id="17" name="Text 12"/>
          <p:cNvSpPr txBox="1"/>
          <p:nvPr/>
        </p:nvSpPr>
        <p:spPr>
          <a:xfrm>
            <a:off x="6812280" y="1280160"/>
            <a:ext cx="1325880" cy="9144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Parser</a:t>
            </a:r>
            <a:endParaRPr lang="en-US" sz="1800" dirty="0"/>
          </a:p>
        </p:txBody>
      </p:sp>
      <p:sp>
        <p:nvSpPr>
          <p:cNvPr id="18" name="Shape 13"/>
          <p:cNvSpPr/>
          <p:nvPr/>
        </p:nvSpPr>
        <p:spPr>
          <a:xfrm>
            <a:off x="457200" y="2423160"/>
            <a:ext cx="4114800" cy="2286000"/>
          </a:xfrm>
          <a:prstGeom prst="roundRect">
            <a:avLst>
              <a:gd name="adj" fmla="val 4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9" name="Text 14"/>
          <p:cNvSpPr txBox="1"/>
          <p:nvPr/>
        </p:nvSpPr>
        <p:spPr>
          <a:xfrm>
            <a:off x="640080" y="2542032"/>
            <a:ext cx="36576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MEANS</a:t>
            </a:r>
            <a:endParaRPr lang="en-US" sz="900" dirty="0"/>
          </a:p>
        </p:txBody>
      </p:sp>
      <p:sp>
        <p:nvSpPr>
          <p:cNvPr id="20" name="Text 15"/>
          <p:cNvSpPr txBox="1"/>
          <p:nvPr/>
        </p:nvSpPr>
        <p:spPr>
          <a:xfrm>
            <a:off x="640080" y="2788920"/>
            <a:ext cx="3749040" cy="182880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A chain connects blocks so the output of one becomes the input of the next.</a:t>
            </a:r>
            <a:endParaRPr lang="en-US" sz="1250" dirty="0"/>
          </a:p>
          <a:p>
            <a:pPr indent="0" marL="0">
              <a:buNone/>
            </a:pPr>
            <a:r>
              <a:rPr lang="en-US" sz="500" dirty="0">
                <a:solidFill>
                  <a:srgbClr val="0F172A"/>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0F172A"/>
                </a:solidFill>
                <a:latin typeface="Calibri" pitchFamily="34" charset="0"/>
                <a:ea typeface="Calibri" pitchFamily="34" charset="-122"/>
                <a:cs typeface="Calibri" pitchFamily="34" charset="-120"/>
              </a:rPr>
              <a:t>Every block is a Runnable: </a:t>
            </a:r>
            <a:pPr indent="0" marL="0">
              <a:buNone/>
            </a:pPr>
            <a:r>
              <a:rPr lang="en-US" sz="1250" dirty="0">
                <a:solidFill>
                  <a:srgbClr val="0F172A"/>
                </a:solidFill>
                <a:latin typeface="Calibri" pitchFamily="34" charset="0"/>
                <a:ea typeface="Calibri" pitchFamily="34" charset="-122"/>
                <a:cs typeface="Calibri" pitchFamily="34" charset="-120"/>
              </a:rPr>
              <a:t>anything with .invoke(), .stream() and .batch().</a:t>
            </a:r>
            <a:endParaRPr lang="en-US" sz="1250" dirty="0"/>
          </a:p>
          <a:p>
            <a:pPr indent="0" marL="0">
              <a:buNone/>
            </a:pPr>
            <a:r>
              <a:rPr lang="en-US" sz="500" dirty="0">
                <a:solidFill>
                  <a:srgbClr val="0F172A"/>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0F172A"/>
                </a:solidFill>
                <a:latin typeface="Calibri" pitchFamily="34" charset="0"/>
                <a:ea typeface="Calibri" pitchFamily="34" charset="-122"/>
                <a:cs typeface="Calibri" pitchFamily="34" charset="-120"/>
              </a:rPr>
              <a:t>The pipe | is LCEL </a:t>
            </a:r>
            <a:pPr indent="0" marL="0">
              <a:buNone/>
            </a:pPr>
            <a:r>
              <a:rPr lang="en-US" sz="1250" dirty="0">
                <a:solidFill>
                  <a:srgbClr val="0F172A"/>
                </a:solidFill>
                <a:latin typeface="Calibri" pitchFamily="34" charset="0"/>
                <a:ea typeface="Calibri" pitchFamily="34" charset="-122"/>
                <a:cs typeface="Calibri" pitchFamily="34" charset="-120"/>
              </a:rPr>
              <a:t>(LangChain Expression Language), the short way to join them.</a:t>
            </a:r>
            <a:endParaRPr lang="en-US" sz="1250" dirty="0"/>
          </a:p>
        </p:txBody>
      </p:sp>
      <p:sp>
        <p:nvSpPr>
          <p:cNvPr id="21" name="Shape 16"/>
          <p:cNvSpPr/>
          <p:nvPr/>
        </p:nvSpPr>
        <p:spPr>
          <a:xfrm>
            <a:off x="4754880" y="2423160"/>
            <a:ext cx="3931920" cy="1600200"/>
          </a:xfrm>
          <a:prstGeom prst="roundRect">
            <a:avLst>
              <a:gd name="adj" fmla="val 5714"/>
            </a:avLst>
          </a:prstGeom>
          <a:solidFill>
            <a:srgbClr val="0F172A"/>
          </a:solidFill>
          <a:ln/>
        </p:spPr>
      </p:sp>
      <p:sp>
        <p:nvSpPr>
          <p:cNvPr id="22" name="Text 17"/>
          <p:cNvSpPr txBox="1"/>
          <p:nvPr/>
        </p:nvSpPr>
        <p:spPr>
          <a:xfrm>
            <a:off x="4937760" y="2542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23" name="Text 18"/>
          <p:cNvSpPr txBox="1"/>
          <p:nvPr/>
        </p:nvSpPr>
        <p:spPr>
          <a:xfrm>
            <a:off x="4937760" y="2807208"/>
            <a:ext cx="3657600" cy="11430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chain = prompt | llm | StrOutputParser()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chain.invoke({"role": "teacher",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"question": "What is AI?"})</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chain.stream(...)   # word by word</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chain.batch([...])  # many at once</a:t>
            </a:r>
            <a:endParaRPr lang="en-US" sz="1100" dirty="0"/>
          </a:p>
        </p:txBody>
      </p:sp>
      <p:sp>
        <p:nvSpPr>
          <p:cNvPr id="24" name="Shape 19"/>
          <p:cNvSpPr/>
          <p:nvPr/>
        </p:nvSpPr>
        <p:spPr>
          <a:xfrm>
            <a:off x="4754880" y="4160520"/>
            <a:ext cx="3931920" cy="548640"/>
          </a:xfrm>
          <a:prstGeom prst="roundRect">
            <a:avLst>
              <a:gd name="adj" fmla="val 16667"/>
            </a:avLst>
          </a:prstGeom>
          <a:solidFill>
            <a:srgbClr val="FEF3C7"/>
          </a:solidFill>
          <a:ln/>
        </p:spPr>
      </p:sp>
      <p:sp>
        <p:nvSpPr>
          <p:cNvPr id="25" name="Text 20"/>
          <p:cNvSpPr txBox="1"/>
          <p:nvPr/>
        </p:nvSpPr>
        <p:spPr>
          <a:xfrm>
            <a:off x="4937760" y="4160520"/>
            <a:ext cx="3611880" cy="548640"/>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Like:  </a:t>
            </a:r>
            <a:pPr indent="0" marL="0">
              <a:buNone/>
            </a:pPr>
            <a:r>
              <a:rPr lang="en-US" sz="1250" dirty="0">
                <a:solidFill>
                  <a:srgbClr val="78350F"/>
                </a:solidFill>
                <a:latin typeface="Calibri" pitchFamily="34" charset="0"/>
                <a:ea typeface="Calibri" pitchFamily="34" charset="-122"/>
                <a:cs typeface="Calibri" pitchFamily="34" charset="-120"/>
              </a:rPr>
              <a:t>a factory line. Each station does one step.</a:t>
            </a:r>
            <a:endParaRPr lang="en-US" sz="125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CORE BLOCKS · 6</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Memory</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Lets the AI remember what was said earlier in the chat.</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notebook. Before each answer, the AI reads the notes of the conversation.</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Models forget everything between calls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Memory = saving the messages and sending them again</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Each chat has its own thread_id</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Today this is done with a checkpointer</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850" dirty="0">
                <a:solidFill>
                  <a:srgbClr val="E2E8F0"/>
                </a:solidFill>
                <a:latin typeface="Courier New" pitchFamily="34" charset="0"/>
                <a:ea typeface="Courier New" pitchFamily="34" charset="-122"/>
                <a:cs typeface="Courier New" pitchFamily="34" charset="-120"/>
              </a:rPr>
              <a:t>from langchain.agents import create_agent</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from langgraph.checkpoint.memory import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InMemorySaver)</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agent = create_agent(llm, tools=[],</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checkpointer=InMemorySaver())</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cfg = {"configurable": {"thread_id": "chat-1"}}</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def ask(q):</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return agent.invoke(</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{"messages": [("user", q)]}, cfg)</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ask("Hi, I'm Akram")</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ask("What is my name?")  # Akram</a:t>
            </a:r>
            <a:endParaRPr lang="en-US" sz="8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build a chatbot or any app with follow-up questions.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YOUR DATA · 1</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Document loaders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Reads files and websites and turns them into Document objects.</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scanner. It converts paper, PDFs and pages into text the AI can read.</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Loaders exist for text, PDF, CSV, web pages, Word and more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A Document has page_content (text) and metadata (source, page)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Most loaders are in langchain-community</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from langchain_community.document_loaders import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TextLoader, PyPDFLoader)</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docs = TextLoader("notes.txt").load()</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or PyPDFLoader("report.pdf").load()</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print(docs[0].page_content)  # the text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print(docs[0].metadata)      # source...</a:t>
            </a:r>
            <a:endParaRPr lang="en-US" sz="9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the AI must answer questions about your own files.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YOUR DATA · 2</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Text splitters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Cuts long documents into small chunks.</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cutting a pizza into slices. Slices are easier to pick up than the whole pizza.</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Models can only read a limited amount of text at once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Small chunks make search more accurate</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chunk_overlap repeats a little text so meaning is not cut in half</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from langchain_text_splitters import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RecursiveCharacterTextSplitter)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splitter = RecursiveCharacterTextSplitter(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chunk_size=500,</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chunk_overlap=50)</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chunks = splitter.split_documents(docs)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print(len(chunks))</a:t>
            </a:r>
            <a:endParaRPr lang="en-US" sz="11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your documents are longer than a few paragraphs.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YOUR DATA · 3</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Embeddings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Turns text into a list of numbers that captures its meaning.</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GPS coordinates for meaning. Similar ideas land close together on the map.</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"Dog" and "puppy" get nearby numbers; "car" gets far ones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Lets us search by meaning, not just exact words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Needs an embedding model (OpenAI, Cohere, Bedrock, Ollama...)</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from langchain_openai import OpenAIEmbeddings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also: CohereEmbeddings, BedrockEmbeddings,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OllamaEmbeddings (local and free)</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emb = OpenAIEmbeddings()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vec = emb.embed_query("hello world")</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print(len(vec))  # a long list of numbers</a:t>
            </a:r>
            <a:endParaRPr lang="en-US" sz="10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want to search documents by meaning.</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YOUR DATA ·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Vector stores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database that stores embeddings and finds the closest matches.</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library with a smart librarian. Ask a question, and get the most relevant pages.</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Stores each chunk with its embedding</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similarity_search returns the closest chunks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InMemoryVectorStore is easy for learning; Chroma, FAISS, Pinecone and others for real apps</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050" dirty="0">
                <a:solidFill>
                  <a:srgbClr val="E2E8F0"/>
                </a:solidFill>
                <a:latin typeface="Courier New" pitchFamily="34" charset="0"/>
                <a:ea typeface="Courier New" pitchFamily="34" charset="-122"/>
                <a:cs typeface="Courier New" pitchFamily="34" charset="-120"/>
              </a:rPr>
              <a:t>from langchain_core.vectorstores import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InMemoryVectorStore)</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store = InMemoryVectorStore.from_documents(</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chunks, embedding=emb)</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store.similarity_search("leave policy", k=2)</a:t>
            </a:r>
            <a:endParaRPr lang="en-US" sz="10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have many chunks and need to find the right ones fast.</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YOUR DATA · 5</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Retrievers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simple 'find relevant documents' tool. Give a question, get documents.</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search bar. Type a question and see the best results.</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Wraps a vector store with one .invoke() call</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k = how many results to return</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Plugs straight into a chain as a Runnable</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retriever = store.as_retriever(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search_kwargs={"k": 3})</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docs = retriever.invoke(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"How many casual leaves?")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for d in docs: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print(d.page_content)</a:t>
            </a:r>
            <a:endParaRPr lang="en-US" sz="11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want the AI to look things up before answering.</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YOUR DATA · RAG</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Putting it together: RAG</a:t>
            </a:r>
            <a:endParaRPr lang="en-US" sz="3200" dirty="0"/>
          </a:p>
        </p:txBody>
      </p:sp>
      <p:sp>
        <p:nvSpPr>
          <p:cNvPr id="4" name="Text 2"/>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250" i="1" dirty="0">
                <a:solidFill>
                  <a:srgbClr val="475569"/>
                </a:solidFill>
                <a:latin typeface="Calibri" pitchFamily="34" charset="0"/>
                <a:ea typeface="Calibri" pitchFamily="34" charset="-122"/>
                <a:cs typeface="Calibri" pitchFamily="34" charset="-120"/>
              </a:rPr>
              <a:t>RAG = Retrieval-Augmented Generation. Look up facts first, then let the AI answer using them.</a:t>
            </a:r>
            <a:endParaRPr lang="en-US" sz="1250" dirty="0"/>
          </a:p>
        </p:txBody>
      </p:sp>
      <p:sp>
        <p:nvSpPr>
          <p:cNvPr id="5" name="Text 3"/>
          <p:cNvSpPr txBox="1"/>
          <p:nvPr/>
        </p:nvSpPr>
        <p:spPr>
          <a:xfrm>
            <a:off x="457200" y="1463040"/>
            <a:ext cx="4572000" cy="228600"/>
          </a:xfrm>
          <a:prstGeom prst="rect">
            <a:avLst/>
          </a:prstGeom>
          <a:noFill/>
          <a:ln/>
        </p:spPr>
        <p:txBody>
          <a:bodyPr wrap="square" lIns="0" tIns="0" rIns="0" bIns="0" rtlCol="0" anchor="t"/>
          <a:lstStyle/>
          <a:p>
            <a:pPr indent="0" marL="0">
              <a:buNone/>
            </a:pPr>
            <a:r>
              <a:rPr lang="en-US" sz="1000" b="1" spc="200" kern="0" dirty="0">
                <a:solidFill>
                  <a:srgbClr val="059669"/>
                </a:solidFill>
                <a:latin typeface="Calibri" pitchFamily="34" charset="0"/>
                <a:ea typeface="Calibri" pitchFamily="34" charset="-122"/>
                <a:cs typeface="Calibri" pitchFamily="34" charset="-120"/>
              </a:rPr>
              <a:t>A. PREPARE ONCE</a:t>
            </a:r>
            <a:endParaRPr lang="en-US" sz="1000" dirty="0"/>
          </a:p>
        </p:txBody>
      </p:sp>
      <p:sp>
        <p:nvSpPr>
          <p:cNvPr id="6" name="Shape 4"/>
          <p:cNvSpPr/>
          <p:nvPr/>
        </p:nvSpPr>
        <p:spPr>
          <a:xfrm>
            <a:off x="457200" y="1737360"/>
            <a:ext cx="1783080" cy="1097280"/>
          </a:xfrm>
          <a:prstGeom prst="roundRect">
            <a:avLst>
              <a:gd name="adj" fmla="val 8333"/>
            </a:avLst>
          </a:prstGeom>
          <a:solidFill>
            <a:srgbClr val="FFFFFF"/>
          </a:solidFill>
          <a:ln w="15875">
            <a:solidFill>
              <a:srgbClr val="059669"/>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594360" y="1874520"/>
            <a:ext cx="329184" cy="329184"/>
          </a:xfrm>
          <a:prstGeom prst="ellipse">
            <a:avLst/>
          </a:prstGeom>
          <a:solidFill>
            <a:srgbClr val="047857"/>
          </a:solidFill>
          <a:ln w="6350">
            <a:solidFill>
              <a:srgbClr val="047857"/>
            </a:solidFill>
            <a:prstDash val="solid"/>
          </a:ln>
        </p:spPr>
      </p:sp>
      <p:sp>
        <p:nvSpPr>
          <p:cNvPr id="8" name="Text 6"/>
          <p:cNvSpPr txBox="1"/>
          <p:nvPr/>
        </p:nvSpPr>
        <p:spPr>
          <a:xfrm>
            <a:off x="594360" y="1874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024128" y="1856232"/>
            <a:ext cx="114300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Load</a:t>
            </a:r>
            <a:endParaRPr lang="en-US" sz="1500" dirty="0"/>
          </a:p>
        </p:txBody>
      </p:sp>
      <p:sp>
        <p:nvSpPr>
          <p:cNvPr id="10" name="Text 8"/>
          <p:cNvSpPr txBox="1"/>
          <p:nvPr/>
        </p:nvSpPr>
        <p:spPr>
          <a:xfrm>
            <a:off x="594360" y="2359152"/>
            <a:ext cx="1554480" cy="41148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Read your files</a:t>
            </a:r>
            <a:endParaRPr lang="en-US" sz="1150" dirty="0"/>
          </a:p>
        </p:txBody>
      </p:sp>
      <p:sp>
        <p:nvSpPr>
          <p:cNvPr id="11" name="Shape 9"/>
          <p:cNvSpPr/>
          <p:nvPr/>
        </p:nvSpPr>
        <p:spPr>
          <a:xfrm>
            <a:off x="2240280" y="2286000"/>
            <a:ext cx="365760" cy="0"/>
          </a:xfrm>
          <a:prstGeom prst="line">
            <a:avLst/>
          </a:prstGeom>
          <a:noFill/>
          <a:ln w="25400">
            <a:solidFill>
              <a:srgbClr val="059669"/>
            </a:solidFill>
            <a:prstDash val="solid"/>
            <a:tailEnd type="triangle"/>
          </a:ln>
        </p:spPr>
      </p:sp>
      <p:sp>
        <p:nvSpPr>
          <p:cNvPr id="12" name="Shape 10"/>
          <p:cNvSpPr/>
          <p:nvPr/>
        </p:nvSpPr>
        <p:spPr>
          <a:xfrm>
            <a:off x="2606040" y="1737360"/>
            <a:ext cx="1783080" cy="1097280"/>
          </a:xfrm>
          <a:prstGeom prst="roundRect">
            <a:avLst>
              <a:gd name="adj" fmla="val 8333"/>
            </a:avLst>
          </a:prstGeom>
          <a:solidFill>
            <a:srgbClr val="FFFFFF"/>
          </a:solidFill>
          <a:ln w="15875">
            <a:solidFill>
              <a:srgbClr val="059669"/>
            </a:solidFill>
            <a:prstDash val="solid"/>
          </a:ln>
          <a:effectLst>
            <a:outerShdw sx="100000" sy="100000" kx="0" ky="0" algn="bl" rotWithShape="0" blurRad="101600" dist="25400" dir="5400000">
              <a:srgbClr val="000000">
                <a:alpha val="12000"/>
              </a:srgbClr>
            </a:outerShdw>
          </a:effectLst>
        </p:spPr>
      </p:sp>
      <p:sp>
        <p:nvSpPr>
          <p:cNvPr id="13" name="Shape 11"/>
          <p:cNvSpPr/>
          <p:nvPr/>
        </p:nvSpPr>
        <p:spPr>
          <a:xfrm>
            <a:off x="2743200" y="1874520"/>
            <a:ext cx="329184" cy="329184"/>
          </a:xfrm>
          <a:prstGeom prst="ellipse">
            <a:avLst/>
          </a:prstGeom>
          <a:solidFill>
            <a:srgbClr val="047857"/>
          </a:solidFill>
          <a:ln w="6350">
            <a:solidFill>
              <a:srgbClr val="047857"/>
            </a:solidFill>
            <a:prstDash val="solid"/>
          </a:ln>
        </p:spPr>
      </p:sp>
      <p:sp>
        <p:nvSpPr>
          <p:cNvPr id="14" name="Text 12"/>
          <p:cNvSpPr txBox="1"/>
          <p:nvPr/>
        </p:nvSpPr>
        <p:spPr>
          <a:xfrm>
            <a:off x="2743200" y="1874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3172968" y="1856232"/>
            <a:ext cx="114300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Split</a:t>
            </a:r>
            <a:endParaRPr lang="en-US" sz="1500" dirty="0"/>
          </a:p>
        </p:txBody>
      </p:sp>
      <p:sp>
        <p:nvSpPr>
          <p:cNvPr id="16" name="Text 14"/>
          <p:cNvSpPr txBox="1"/>
          <p:nvPr/>
        </p:nvSpPr>
        <p:spPr>
          <a:xfrm>
            <a:off x="2743200" y="2359152"/>
            <a:ext cx="1554480" cy="41148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Cut into chunks</a:t>
            </a:r>
            <a:endParaRPr lang="en-US" sz="1150" dirty="0"/>
          </a:p>
        </p:txBody>
      </p:sp>
      <p:sp>
        <p:nvSpPr>
          <p:cNvPr id="17" name="Shape 15"/>
          <p:cNvSpPr/>
          <p:nvPr/>
        </p:nvSpPr>
        <p:spPr>
          <a:xfrm>
            <a:off x="4389120" y="2286000"/>
            <a:ext cx="365760" cy="0"/>
          </a:xfrm>
          <a:prstGeom prst="line">
            <a:avLst/>
          </a:prstGeom>
          <a:noFill/>
          <a:ln w="25400">
            <a:solidFill>
              <a:srgbClr val="059669"/>
            </a:solidFill>
            <a:prstDash val="solid"/>
            <a:tailEnd type="triangle"/>
          </a:ln>
        </p:spPr>
      </p:sp>
      <p:sp>
        <p:nvSpPr>
          <p:cNvPr id="18" name="Shape 16"/>
          <p:cNvSpPr/>
          <p:nvPr/>
        </p:nvSpPr>
        <p:spPr>
          <a:xfrm>
            <a:off x="4754880" y="1737360"/>
            <a:ext cx="1783080" cy="1097280"/>
          </a:xfrm>
          <a:prstGeom prst="roundRect">
            <a:avLst>
              <a:gd name="adj" fmla="val 8333"/>
            </a:avLst>
          </a:prstGeom>
          <a:solidFill>
            <a:srgbClr val="FFFFFF"/>
          </a:solidFill>
          <a:ln w="15875">
            <a:solidFill>
              <a:srgbClr val="059669"/>
            </a:solidFill>
            <a:prstDash val="solid"/>
          </a:ln>
          <a:effectLst>
            <a:outerShdw sx="100000" sy="100000" kx="0" ky="0" algn="bl" rotWithShape="0" blurRad="101600" dist="25400" dir="5400000">
              <a:srgbClr val="000000">
                <a:alpha val="12000"/>
              </a:srgbClr>
            </a:outerShdw>
          </a:effectLst>
        </p:spPr>
      </p:sp>
      <p:sp>
        <p:nvSpPr>
          <p:cNvPr id="19" name="Shape 17"/>
          <p:cNvSpPr/>
          <p:nvPr/>
        </p:nvSpPr>
        <p:spPr>
          <a:xfrm>
            <a:off x="4892040" y="1874520"/>
            <a:ext cx="329184" cy="329184"/>
          </a:xfrm>
          <a:prstGeom prst="ellipse">
            <a:avLst/>
          </a:prstGeom>
          <a:solidFill>
            <a:srgbClr val="047857"/>
          </a:solidFill>
          <a:ln w="6350">
            <a:solidFill>
              <a:srgbClr val="047857"/>
            </a:solidFill>
            <a:prstDash val="solid"/>
          </a:ln>
        </p:spPr>
      </p:sp>
      <p:sp>
        <p:nvSpPr>
          <p:cNvPr id="20" name="Text 18"/>
          <p:cNvSpPr txBox="1"/>
          <p:nvPr/>
        </p:nvSpPr>
        <p:spPr>
          <a:xfrm>
            <a:off x="4892040" y="1874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1" name="Text 19"/>
          <p:cNvSpPr txBox="1"/>
          <p:nvPr/>
        </p:nvSpPr>
        <p:spPr>
          <a:xfrm>
            <a:off x="5321808" y="1856232"/>
            <a:ext cx="114300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Embed</a:t>
            </a:r>
            <a:endParaRPr lang="en-US" sz="1500" dirty="0"/>
          </a:p>
        </p:txBody>
      </p:sp>
      <p:sp>
        <p:nvSpPr>
          <p:cNvPr id="22" name="Text 20"/>
          <p:cNvSpPr txBox="1"/>
          <p:nvPr/>
        </p:nvSpPr>
        <p:spPr>
          <a:xfrm>
            <a:off x="4892040" y="2359152"/>
            <a:ext cx="1554480" cy="41148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Turn into numbers</a:t>
            </a:r>
            <a:endParaRPr lang="en-US" sz="1150" dirty="0"/>
          </a:p>
        </p:txBody>
      </p:sp>
      <p:sp>
        <p:nvSpPr>
          <p:cNvPr id="23" name="Shape 21"/>
          <p:cNvSpPr/>
          <p:nvPr/>
        </p:nvSpPr>
        <p:spPr>
          <a:xfrm>
            <a:off x="6537960" y="2286000"/>
            <a:ext cx="365760" cy="0"/>
          </a:xfrm>
          <a:prstGeom prst="line">
            <a:avLst/>
          </a:prstGeom>
          <a:noFill/>
          <a:ln w="25400">
            <a:solidFill>
              <a:srgbClr val="059669"/>
            </a:solidFill>
            <a:prstDash val="solid"/>
            <a:tailEnd type="triangle"/>
          </a:ln>
        </p:spPr>
      </p:sp>
      <p:sp>
        <p:nvSpPr>
          <p:cNvPr id="24" name="Shape 22"/>
          <p:cNvSpPr/>
          <p:nvPr/>
        </p:nvSpPr>
        <p:spPr>
          <a:xfrm>
            <a:off x="6903720" y="1737360"/>
            <a:ext cx="1783080" cy="1097280"/>
          </a:xfrm>
          <a:prstGeom prst="roundRect">
            <a:avLst>
              <a:gd name="adj" fmla="val 8333"/>
            </a:avLst>
          </a:prstGeom>
          <a:solidFill>
            <a:srgbClr val="FFFFFF"/>
          </a:solidFill>
          <a:ln w="15875">
            <a:solidFill>
              <a:srgbClr val="059669"/>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7040880" y="1874520"/>
            <a:ext cx="329184" cy="329184"/>
          </a:xfrm>
          <a:prstGeom prst="ellipse">
            <a:avLst/>
          </a:prstGeom>
          <a:solidFill>
            <a:srgbClr val="047857"/>
          </a:solidFill>
          <a:ln w="6350">
            <a:solidFill>
              <a:srgbClr val="047857"/>
            </a:solidFill>
            <a:prstDash val="solid"/>
          </a:ln>
        </p:spPr>
      </p:sp>
      <p:sp>
        <p:nvSpPr>
          <p:cNvPr id="26" name="Text 24"/>
          <p:cNvSpPr txBox="1"/>
          <p:nvPr/>
        </p:nvSpPr>
        <p:spPr>
          <a:xfrm>
            <a:off x="7040880" y="1874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7" name="Text 25"/>
          <p:cNvSpPr txBox="1"/>
          <p:nvPr/>
        </p:nvSpPr>
        <p:spPr>
          <a:xfrm>
            <a:off x="7470648" y="1856232"/>
            <a:ext cx="114300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Store</a:t>
            </a:r>
            <a:endParaRPr lang="en-US" sz="1500" dirty="0"/>
          </a:p>
        </p:txBody>
      </p:sp>
      <p:sp>
        <p:nvSpPr>
          <p:cNvPr id="28" name="Text 26"/>
          <p:cNvSpPr txBox="1"/>
          <p:nvPr/>
        </p:nvSpPr>
        <p:spPr>
          <a:xfrm>
            <a:off x="7040880" y="2359152"/>
            <a:ext cx="1554480" cy="41148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Save in vector store</a:t>
            </a:r>
            <a:endParaRPr lang="en-US" sz="1150" dirty="0"/>
          </a:p>
        </p:txBody>
      </p:sp>
      <p:sp>
        <p:nvSpPr>
          <p:cNvPr id="29" name="Text 27"/>
          <p:cNvSpPr txBox="1"/>
          <p:nvPr/>
        </p:nvSpPr>
        <p:spPr>
          <a:xfrm>
            <a:off x="457200" y="2926080"/>
            <a:ext cx="4572000" cy="228600"/>
          </a:xfrm>
          <a:prstGeom prst="rect">
            <a:avLst/>
          </a:prstGeom>
          <a:noFill/>
          <a:ln/>
        </p:spPr>
        <p:txBody>
          <a:bodyPr wrap="square" lIns="0" tIns="0" rIns="0" bIns="0" rtlCol="0" anchor="t"/>
          <a:lstStyle/>
          <a:p>
            <a:pPr indent="0" marL="0">
              <a:buNone/>
            </a:pPr>
            <a:r>
              <a:rPr lang="en-US" sz="1000" b="1" spc="200" kern="0" dirty="0">
                <a:solidFill>
                  <a:srgbClr val="059669"/>
                </a:solidFill>
                <a:latin typeface="Calibri" pitchFamily="34" charset="0"/>
                <a:ea typeface="Calibri" pitchFamily="34" charset="-122"/>
                <a:cs typeface="Calibri" pitchFamily="34" charset="-120"/>
              </a:rPr>
              <a:t>B. EVERY QUESTION</a:t>
            </a:r>
            <a:endParaRPr lang="en-US" sz="1000" dirty="0"/>
          </a:p>
        </p:txBody>
      </p:sp>
      <p:sp>
        <p:nvSpPr>
          <p:cNvPr id="30" name="Shape 28"/>
          <p:cNvSpPr/>
          <p:nvPr/>
        </p:nvSpPr>
        <p:spPr>
          <a:xfrm>
            <a:off x="457200" y="3200400"/>
            <a:ext cx="1783080" cy="1097280"/>
          </a:xfrm>
          <a:prstGeom prst="roundRect">
            <a:avLst>
              <a:gd name="adj" fmla="val 8333"/>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31" name="Shape 29"/>
          <p:cNvSpPr/>
          <p:nvPr/>
        </p:nvSpPr>
        <p:spPr>
          <a:xfrm>
            <a:off x="594360" y="3337560"/>
            <a:ext cx="329184" cy="329184"/>
          </a:xfrm>
          <a:prstGeom prst="ellipse">
            <a:avLst/>
          </a:prstGeom>
          <a:solidFill>
            <a:srgbClr val="34D399"/>
          </a:solidFill>
          <a:ln w="6350">
            <a:solidFill>
              <a:srgbClr val="34D399"/>
            </a:solidFill>
            <a:prstDash val="solid"/>
          </a:ln>
        </p:spPr>
      </p:sp>
      <p:sp>
        <p:nvSpPr>
          <p:cNvPr id="32" name="Text 30"/>
          <p:cNvSpPr txBox="1"/>
          <p:nvPr/>
        </p:nvSpPr>
        <p:spPr>
          <a:xfrm>
            <a:off x="594360" y="3337560"/>
            <a:ext cx="329184" cy="329184"/>
          </a:xfrm>
          <a:prstGeom prst="rect">
            <a:avLst/>
          </a:prstGeom>
          <a:noFill/>
          <a:ln/>
        </p:spPr>
        <p:txBody>
          <a:bodyPr wrap="square" lIns="0" tIns="0" rIns="0" bIns="0" rtlCol="0" anchor="ctr"/>
          <a:lstStyle/>
          <a:p>
            <a:pPr algn="ctr" indent="0" marL="0">
              <a:buNone/>
            </a:pPr>
            <a:r>
              <a:rPr lang="en-US" sz="1100" b="1" dirty="0">
                <a:solidFill>
                  <a:srgbClr val="0A1A1F"/>
                </a:solidFill>
                <a:latin typeface="Cambria" pitchFamily="34" charset="0"/>
                <a:ea typeface="Cambria" pitchFamily="34" charset="-122"/>
                <a:cs typeface="Cambria" pitchFamily="34" charset="-120"/>
              </a:rPr>
              <a:t>1</a:t>
            </a:r>
            <a:endParaRPr lang="en-US" sz="1100" dirty="0"/>
          </a:p>
        </p:txBody>
      </p:sp>
      <p:sp>
        <p:nvSpPr>
          <p:cNvPr id="33" name="Text 31"/>
          <p:cNvSpPr txBox="1"/>
          <p:nvPr/>
        </p:nvSpPr>
        <p:spPr>
          <a:xfrm>
            <a:off x="1024128" y="3319272"/>
            <a:ext cx="11430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Ask</a:t>
            </a:r>
            <a:endParaRPr lang="en-US" sz="1500" dirty="0"/>
          </a:p>
        </p:txBody>
      </p:sp>
      <p:sp>
        <p:nvSpPr>
          <p:cNvPr id="34" name="Text 32"/>
          <p:cNvSpPr txBox="1"/>
          <p:nvPr/>
        </p:nvSpPr>
        <p:spPr>
          <a:xfrm>
            <a:off x="594360" y="3822192"/>
            <a:ext cx="1554480" cy="4114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User question</a:t>
            </a:r>
            <a:endParaRPr lang="en-US" sz="1150" dirty="0"/>
          </a:p>
        </p:txBody>
      </p:sp>
      <p:sp>
        <p:nvSpPr>
          <p:cNvPr id="35" name="Shape 33"/>
          <p:cNvSpPr/>
          <p:nvPr/>
        </p:nvSpPr>
        <p:spPr>
          <a:xfrm>
            <a:off x="2240280" y="3749040"/>
            <a:ext cx="365760" cy="0"/>
          </a:xfrm>
          <a:prstGeom prst="line">
            <a:avLst/>
          </a:prstGeom>
          <a:noFill/>
          <a:ln w="25400">
            <a:solidFill>
              <a:srgbClr val="059669"/>
            </a:solidFill>
            <a:prstDash val="solid"/>
            <a:tailEnd type="triangle"/>
          </a:ln>
        </p:spPr>
      </p:sp>
      <p:sp>
        <p:nvSpPr>
          <p:cNvPr id="36" name="Shape 34"/>
          <p:cNvSpPr/>
          <p:nvPr/>
        </p:nvSpPr>
        <p:spPr>
          <a:xfrm>
            <a:off x="2606040" y="3200400"/>
            <a:ext cx="1783080" cy="1097280"/>
          </a:xfrm>
          <a:prstGeom prst="roundRect">
            <a:avLst>
              <a:gd name="adj" fmla="val 8333"/>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37" name="Shape 35"/>
          <p:cNvSpPr/>
          <p:nvPr/>
        </p:nvSpPr>
        <p:spPr>
          <a:xfrm>
            <a:off x="2743200" y="3337560"/>
            <a:ext cx="329184" cy="329184"/>
          </a:xfrm>
          <a:prstGeom prst="ellipse">
            <a:avLst/>
          </a:prstGeom>
          <a:solidFill>
            <a:srgbClr val="34D399"/>
          </a:solidFill>
          <a:ln w="6350">
            <a:solidFill>
              <a:srgbClr val="34D399"/>
            </a:solidFill>
            <a:prstDash val="solid"/>
          </a:ln>
        </p:spPr>
      </p:sp>
      <p:sp>
        <p:nvSpPr>
          <p:cNvPr id="38" name="Text 36"/>
          <p:cNvSpPr txBox="1"/>
          <p:nvPr/>
        </p:nvSpPr>
        <p:spPr>
          <a:xfrm>
            <a:off x="2743200" y="3337560"/>
            <a:ext cx="329184" cy="329184"/>
          </a:xfrm>
          <a:prstGeom prst="rect">
            <a:avLst/>
          </a:prstGeom>
          <a:noFill/>
          <a:ln/>
        </p:spPr>
        <p:txBody>
          <a:bodyPr wrap="square" lIns="0" tIns="0" rIns="0" bIns="0" rtlCol="0" anchor="ctr"/>
          <a:lstStyle/>
          <a:p>
            <a:pPr algn="ctr" indent="0" marL="0">
              <a:buNone/>
            </a:pPr>
            <a:r>
              <a:rPr lang="en-US" sz="1100" b="1" dirty="0">
                <a:solidFill>
                  <a:srgbClr val="0A1A1F"/>
                </a:solidFill>
                <a:latin typeface="Cambria" pitchFamily="34" charset="0"/>
                <a:ea typeface="Cambria" pitchFamily="34" charset="-122"/>
                <a:cs typeface="Cambria" pitchFamily="34" charset="-120"/>
              </a:rPr>
              <a:t>2</a:t>
            </a:r>
            <a:endParaRPr lang="en-US" sz="1100" dirty="0"/>
          </a:p>
        </p:txBody>
      </p:sp>
      <p:sp>
        <p:nvSpPr>
          <p:cNvPr id="39" name="Text 37"/>
          <p:cNvSpPr txBox="1"/>
          <p:nvPr/>
        </p:nvSpPr>
        <p:spPr>
          <a:xfrm>
            <a:off x="3172968" y="3319272"/>
            <a:ext cx="11430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Retrieve</a:t>
            </a:r>
            <a:endParaRPr lang="en-US" sz="1500" dirty="0"/>
          </a:p>
        </p:txBody>
      </p:sp>
      <p:sp>
        <p:nvSpPr>
          <p:cNvPr id="40" name="Text 38"/>
          <p:cNvSpPr txBox="1"/>
          <p:nvPr/>
        </p:nvSpPr>
        <p:spPr>
          <a:xfrm>
            <a:off x="2743200" y="3822192"/>
            <a:ext cx="1554480" cy="4114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Find best chunks</a:t>
            </a:r>
            <a:endParaRPr lang="en-US" sz="1150" dirty="0"/>
          </a:p>
        </p:txBody>
      </p:sp>
      <p:sp>
        <p:nvSpPr>
          <p:cNvPr id="41" name="Shape 39"/>
          <p:cNvSpPr/>
          <p:nvPr/>
        </p:nvSpPr>
        <p:spPr>
          <a:xfrm>
            <a:off x="4389120" y="3749040"/>
            <a:ext cx="365760" cy="0"/>
          </a:xfrm>
          <a:prstGeom prst="line">
            <a:avLst/>
          </a:prstGeom>
          <a:noFill/>
          <a:ln w="25400">
            <a:solidFill>
              <a:srgbClr val="059669"/>
            </a:solidFill>
            <a:prstDash val="solid"/>
            <a:tailEnd type="triangle"/>
          </a:ln>
        </p:spPr>
      </p:sp>
      <p:sp>
        <p:nvSpPr>
          <p:cNvPr id="42" name="Shape 40"/>
          <p:cNvSpPr/>
          <p:nvPr/>
        </p:nvSpPr>
        <p:spPr>
          <a:xfrm>
            <a:off x="4754880" y="3200400"/>
            <a:ext cx="1783080" cy="1097280"/>
          </a:xfrm>
          <a:prstGeom prst="roundRect">
            <a:avLst>
              <a:gd name="adj" fmla="val 8333"/>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43" name="Shape 41"/>
          <p:cNvSpPr/>
          <p:nvPr/>
        </p:nvSpPr>
        <p:spPr>
          <a:xfrm>
            <a:off x="4892040" y="3337560"/>
            <a:ext cx="329184" cy="329184"/>
          </a:xfrm>
          <a:prstGeom prst="ellipse">
            <a:avLst/>
          </a:prstGeom>
          <a:solidFill>
            <a:srgbClr val="34D399"/>
          </a:solidFill>
          <a:ln w="6350">
            <a:solidFill>
              <a:srgbClr val="34D399"/>
            </a:solidFill>
            <a:prstDash val="solid"/>
          </a:ln>
        </p:spPr>
      </p:sp>
      <p:sp>
        <p:nvSpPr>
          <p:cNvPr id="44" name="Text 42"/>
          <p:cNvSpPr txBox="1"/>
          <p:nvPr/>
        </p:nvSpPr>
        <p:spPr>
          <a:xfrm>
            <a:off x="4892040" y="3337560"/>
            <a:ext cx="329184" cy="329184"/>
          </a:xfrm>
          <a:prstGeom prst="rect">
            <a:avLst/>
          </a:prstGeom>
          <a:noFill/>
          <a:ln/>
        </p:spPr>
        <p:txBody>
          <a:bodyPr wrap="square" lIns="0" tIns="0" rIns="0" bIns="0" rtlCol="0" anchor="ctr"/>
          <a:lstStyle/>
          <a:p>
            <a:pPr algn="ctr" indent="0" marL="0">
              <a:buNone/>
            </a:pPr>
            <a:r>
              <a:rPr lang="en-US" sz="1100" b="1" dirty="0">
                <a:solidFill>
                  <a:srgbClr val="0A1A1F"/>
                </a:solidFill>
                <a:latin typeface="Cambria" pitchFamily="34" charset="0"/>
                <a:ea typeface="Cambria" pitchFamily="34" charset="-122"/>
                <a:cs typeface="Cambria" pitchFamily="34" charset="-120"/>
              </a:rPr>
              <a:t>3</a:t>
            </a:r>
            <a:endParaRPr lang="en-US" sz="1100" dirty="0"/>
          </a:p>
        </p:txBody>
      </p:sp>
      <p:sp>
        <p:nvSpPr>
          <p:cNvPr id="45" name="Text 43"/>
          <p:cNvSpPr txBox="1"/>
          <p:nvPr/>
        </p:nvSpPr>
        <p:spPr>
          <a:xfrm>
            <a:off x="5321808" y="3319272"/>
            <a:ext cx="11430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Prompt</a:t>
            </a:r>
            <a:endParaRPr lang="en-US" sz="1500" dirty="0"/>
          </a:p>
        </p:txBody>
      </p:sp>
      <p:sp>
        <p:nvSpPr>
          <p:cNvPr id="46" name="Text 44"/>
          <p:cNvSpPr txBox="1"/>
          <p:nvPr/>
        </p:nvSpPr>
        <p:spPr>
          <a:xfrm>
            <a:off x="4892040" y="3822192"/>
            <a:ext cx="1554480" cy="4114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Question + chunks</a:t>
            </a:r>
            <a:endParaRPr lang="en-US" sz="1150" dirty="0"/>
          </a:p>
        </p:txBody>
      </p:sp>
      <p:sp>
        <p:nvSpPr>
          <p:cNvPr id="47" name="Shape 45"/>
          <p:cNvSpPr/>
          <p:nvPr/>
        </p:nvSpPr>
        <p:spPr>
          <a:xfrm>
            <a:off x="6537960" y="3749040"/>
            <a:ext cx="365760" cy="0"/>
          </a:xfrm>
          <a:prstGeom prst="line">
            <a:avLst/>
          </a:prstGeom>
          <a:noFill/>
          <a:ln w="25400">
            <a:solidFill>
              <a:srgbClr val="059669"/>
            </a:solidFill>
            <a:prstDash val="solid"/>
            <a:tailEnd type="triangle"/>
          </a:ln>
        </p:spPr>
      </p:sp>
      <p:sp>
        <p:nvSpPr>
          <p:cNvPr id="48" name="Shape 46"/>
          <p:cNvSpPr/>
          <p:nvPr/>
        </p:nvSpPr>
        <p:spPr>
          <a:xfrm>
            <a:off x="6903720" y="3200400"/>
            <a:ext cx="1783080" cy="1097280"/>
          </a:xfrm>
          <a:prstGeom prst="roundRect">
            <a:avLst>
              <a:gd name="adj" fmla="val 8333"/>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49" name="Shape 47"/>
          <p:cNvSpPr/>
          <p:nvPr/>
        </p:nvSpPr>
        <p:spPr>
          <a:xfrm>
            <a:off x="7040880" y="3337560"/>
            <a:ext cx="329184" cy="329184"/>
          </a:xfrm>
          <a:prstGeom prst="ellipse">
            <a:avLst/>
          </a:prstGeom>
          <a:solidFill>
            <a:srgbClr val="34D399"/>
          </a:solidFill>
          <a:ln w="6350">
            <a:solidFill>
              <a:srgbClr val="34D399"/>
            </a:solidFill>
            <a:prstDash val="solid"/>
          </a:ln>
        </p:spPr>
      </p:sp>
      <p:sp>
        <p:nvSpPr>
          <p:cNvPr id="50" name="Text 48"/>
          <p:cNvSpPr txBox="1"/>
          <p:nvPr/>
        </p:nvSpPr>
        <p:spPr>
          <a:xfrm>
            <a:off x="7040880" y="3337560"/>
            <a:ext cx="329184" cy="329184"/>
          </a:xfrm>
          <a:prstGeom prst="rect">
            <a:avLst/>
          </a:prstGeom>
          <a:noFill/>
          <a:ln/>
        </p:spPr>
        <p:txBody>
          <a:bodyPr wrap="square" lIns="0" tIns="0" rIns="0" bIns="0" rtlCol="0" anchor="ctr"/>
          <a:lstStyle/>
          <a:p>
            <a:pPr algn="ctr" indent="0" marL="0">
              <a:buNone/>
            </a:pPr>
            <a:r>
              <a:rPr lang="en-US" sz="1100" b="1" dirty="0">
                <a:solidFill>
                  <a:srgbClr val="0A1A1F"/>
                </a:solidFill>
                <a:latin typeface="Cambria" pitchFamily="34" charset="0"/>
                <a:ea typeface="Cambria" pitchFamily="34" charset="-122"/>
                <a:cs typeface="Cambria" pitchFamily="34" charset="-120"/>
              </a:rPr>
              <a:t>4</a:t>
            </a:r>
            <a:endParaRPr lang="en-US" sz="1100" dirty="0"/>
          </a:p>
        </p:txBody>
      </p:sp>
      <p:sp>
        <p:nvSpPr>
          <p:cNvPr id="51" name="Text 49"/>
          <p:cNvSpPr txBox="1"/>
          <p:nvPr/>
        </p:nvSpPr>
        <p:spPr>
          <a:xfrm>
            <a:off x="7470648" y="3319272"/>
            <a:ext cx="11430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Answer</a:t>
            </a:r>
            <a:endParaRPr lang="en-US" sz="1500" dirty="0"/>
          </a:p>
        </p:txBody>
      </p:sp>
      <p:sp>
        <p:nvSpPr>
          <p:cNvPr id="52" name="Text 50"/>
          <p:cNvSpPr txBox="1"/>
          <p:nvPr/>
        </p:nvSpPr>
        <p:spPr>
          <a:xfrm>
            <a:off x="7040880" y="3822192"/>
            <a:ext cx="1554480" cy="41148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Model replies</a:t>
            </a:r>
            <a:endParaRPr lang="en-US" sz="1150" dirty="0"/>
          </a:p>
        </p:txBody>
      </p:sp>
      <p:sp>
        <p:nvSpPr>
          <p:cNvPr id="53" name="Shape 51"/>
          <p:cNvSpPr/>
          <p:nvPr/>
        </p:nvSpPr>
        <p:spPr>
          <a:xfrm>
            <a:off x="457200" y="4434840"/>
            <a:ext cx="8229600" cy="347472"/>
          </a:xfrm>
          <a:prstGeom prst="roundRect">
            <a:avLst>
              <a:gd name="adj" fmla="val 21053"/>
            </a:avLst>
          </a:prstGeom>
          <a:solidFill>
            <a:srgbClr val="D1FAE5"/>
          </a:solidFill>
          <a:ln/>
        </p:spPr>
      </p:sp>
      <p:sp>
        <p:nvSpPr>
          <p:cNvPr id="54" name="Text 52"/>
          <p:cNvSpPr txBox="1"/>
          <p:nvPr/>
        </p:nvSpPr>
        <p:spPr>
          <a:xfrm>
            <a:off x="640080" y="4434840"/>
            <a:ext cx="7863840" cy="347472"/>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Why RAG? It gives the AI fresh, private facts and cuts down on made-up answers.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ACTIONS · 1</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Tools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Python function the AI is allowed to call.</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apps on a phone. The AI picks the right app for the job.</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@tool turns a function into a tool</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The docstring tells the AI when to use it</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Type hints define the inputs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The AI asks; your code runs it</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from langchain_core.tools import tool</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@tool</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def add(a: int, b: int) -&gt; int: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"""Add two numbers together."""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return a + b</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add.invoke({"a": 5, "b": 7})   # 12</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print(add.name)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print(add.description)</a:t>
            </a:r>
            <a:endParaRPr lang="en-US" sz="11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the AI must calculate, search, call an API or change something.</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ACTIONS · 2</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Agents</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model that decides which tools to use, and repeats until the job is done.</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helpful assistant. You give a goal, and they pick the tools and finish it.</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Loop: think → use a tool → read the result → repeat</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Stops when the model has a final answer</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Remember to limit the number of steps</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from langchain.agents import create_agent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agent = create_agent(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model=llm,</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tools=[add],</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system_prompt="You are a helpful assistant.",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out = agent.invoke(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{"messages": [("user", "5 + 7?")]})</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print(out["messages"][-1].content)</a:t>
            </a:r>
            <a:endParaRPr lang="en-US" sz="9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the steps are not fixed and the AI must choose them.</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ACTIONS · 3</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LangGraph</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Builds an agent as a graph of steps, so you control the flow.</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road map with signs. You decide the roads and where each one leads.</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State: the shared notebook (e.g. the messages)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Nodes: functions that do the work</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Edges: arrows between steps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Conditional edges: a fork that picks the next step</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g = StateGraph(MessagesState)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g.add_node("agent", agent_fn)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g.add_node("tools", ToolNode(tools))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g.add_edge(START, "agent")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g.add_conditional_edges("agent",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tools_condition)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g.add_edge("tools", "agent")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app = g.compile()</a:t>
            </a:r>
            <a:endParaRPr lang="en-US" sz="11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create_agent is not enough and you need custom steps, loops or approvals.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ACTIONS · 4</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LangChain + MCP</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Use tools from MCP servers inside your LangChain or LangGraph agent.</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universal charger. One standard plug works with many devices.</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MCP servers expose tools in a standard way</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langchain-mcp-adapters turns them into LangChain tools</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Add a new server and the agent gets new abilities</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050" dirty="0">
                <a:solidFill>
                  <a:srgbClr val="E2E8F0"/>
                </a:solidFill>
                <a:latin typeface="Courier New" pitchFamily="34" charset="0"/>
                <a:ea typeface="Courier New" pitchFamily="34" charset="-122"/>
                <a:cs typeface="Courier New" pitchFamily="34" charset="-120"/>
              </a:rPr>
              <a:t>from langchain_mcp_adapters.client import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MultiServerMCPClient)</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client = MultiServerMCPClient({</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"demo":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"url": "http://127.0.0.1:8000/my_mcp",</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"transport": "streamable_http"}})</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tools = await client.get_tools()</a:t>
            </a:r>
            <a:endParaRPr lang="en-US" sz="1050" dirty="0"/>
          </a:p>
          <a:p>
            <a:pPr indent="0" marL="0">
              <a:buNone/>
            </a:pPr>
            <a:r>
              <a:rPr lang="en-US" sz="1050" dirty="0">
                <a:solidFill>
                  <a:srgbClr val="E2E8F0"/>
                </a:solidFill>
                <a:latin typeface="Courier New" pitchFamily="34" charset="0"/>
                <a:ea typeface="Courier New" pitchFamily="34" charset="-122"/>
                <a:cs typeface="Courier New" pitchFamily="34" charset="-120"/>
              </a:rPr>
              <a:t># pass `tools` to create_agent(...)</a:t>
            </a:r>
            <a:endParaRPr lang="en-US" sz="105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your tools live in MCP servers and you want a LangChain agent to use them.</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ACTIONS · 5</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LangSmith</a:t>
            </a:r>
            <a:endParaRPr lang="en-US" sz="3200" dirty="0"/>
          </a:p>
        </p:txBody>
      </p:sp>
      <p:sp>
        <p:nvSpPr>
          <p:cNvPr id="4" name="Shape 2"/>
          <p:cNvSpPr/>
          <p:nvPr/>
        </p:nvSpPr>
        <p:spPr>
          <a:xfrm>
            <a:off x="457200" y="1280160"/>
            <a:ext cx="4114800" cy="11430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444752"/>
            <a:ext cx="548640" cy="54864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77240" y="1581912"/>
            <a:ext cx="274320" cy="274320"/>
          </a:xfrm>
          <a:prstGeom prst="rect">
            <a:avLst/>
          </a:prstGeom>
        </p:spPr>
      </p:pic>
      <p:sp>
        <p:nvSpPr>
          <p:cNvPr id="7" name="Text 4"/>
          <p:cNvSpPr txBox="1"/>
          <p:nvPr/>
        </p:nvSpPr>
        <p:spPr>
          <a:xfrm>
            <a:off x="1325880" y="1371600"/>
            <a:ext cx="310896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WHAT IT IS</a:t>
            </a:r>
            <a:endParaRPr lang="en-US" sz="900" dirty="0"/>
          </a:p>
        </p:txBody>
      </p:sp>
      <p:sp>
        <p:nvSpPr>
          <p:cNvPr id="8" name="Text 5"/>
          <p:cNvSpPr txBox="1"/>
          <p:nvPr/>
        </p:nvSpPr>
        <p:spPr>
          <a:xfrm>
            <a:off x="1325880" y="1591056"/>
            <a:ext cx="315468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service that records every step of your app so you can see what happened.</a:t>
            </a:r>
            <a:endParaRPr lang="en-US" sz="1300" dirty="0"/>
          </a:p>
        </p:txBody>
      </p:sp>
      <p:sp>
        <p:nvSpPr>
          <p:cNvPr id="9" name="Shape 6"/>
          <p:cNvSpPr/>
          <p:nvPr/>
        </p:nvSpPr>
        <p:spPr>
          <a:xfrm>
            <a:off x="457200" y="2560320"/>
            <a:ext cx="4114800" cy="658368"/>
          </a:xfrm>
          <a:prstGeom prst="roundRect">
            <a:avLst>
              <a:gd name="adj" fmla="val 13889"/>
            </a:avLst>
          </a:prstGeom>
          <a:solidFill>
            <a:srgbClr val="FEF3C7"/>
          </a:solidFill>
          <a:ln/>
        </p:spPr>
      </p:sp>
      <p:sp>
        <p:nvSpPr>
          <p:cNvPr id="10" name="Text 7"/>
          <p:cNvSpPr txBox="1"/>
          <p:nvPr/>
        </p:nvSpPr>
        <p:spPr>
          <a:xfrm>
            <a:off x="640080" y="2560320"/>
            <a:ext cx="3794760" cy="658368"/>
          </a:xfrm>
          <a:prstGeom prst="rect">
            <a:avLst/>
          </a:prstGeom>
          <a:noFill/>
          <a:ln/>
        </p:spPr>
        <p:txBody>
          <a:bodyPr wrap="square" lIns="0" tIns="0" rIns="0" bIns="0" rtlCol="0" anchor="ctr"/>
          <a:lstStyle/>
          <a:p>
            <a:pPr indent="0" marL="0">
              <a:buNone/>
            </a:pPr>
            <a:r>
              <a:rPr lang="en-US" sz="1250" b="1" dirty="0">
                <a:solidFill>
                  <a:srgbClr val="78350F"/>
                </a:solidFill>
                <a:latin typeface="Calibri" pitchFamily="34" charset="0"/>
                <a:ea typeface="Calibri" pitchFamily="34" charset="-122"/>
                <a:cs typeface="Calibri" pitchFamily="34" charset="-120"/>
              </a:rPr>
              <a:t>Think of it like:  </a:t>
            </a:r>
            <a:pPr indent="0" marL="0">
              <a:buNone/>
            </a:pPr>
            <a:r>
              <a:rPr lang="en-US" sz="1250" dirty="0">
                <a:solidFill>
                  <a:srgbClr val="78350F"/>
                </a:solidFill>
                <a:latin typeface="Calibri" pitchFamily="34" charset="0"/>
                <a:ea typeface="Calibri" pitchFamily="34" charset="-122"/>
                <a:cs typeface="Calibri" pitchFamily="34" charset="-120"/>
              </a:rPr>
              <a:t>a flight recorder (black box) for your AI app.</a:t>
            </a:r>
            <a:endParaRPr lang="en-US" sz="1250" dirty="0"/>
          </a:p>
        </p:txBody>
      </p:sp>
      <p:sp>
        <p:nvSpPr>
          <p:cNvPr id="11" name="Text 8"/>
          <p:cNvSpPr txBox="1"/>
          <p:nvPr/>
        </p:nvSpPr>
        <p:spPr>
          <a:xfrm>
            <a:off x="457200" y="3383280"/>
            <a:ext cx="4114800" cy="201168"/>
          </a:xfrm>
          <a:prstGeom prst="rect">
            <a:avLst/>
          </a:prstGeom>
          <a:noFill/>
          <a:ln/>
        </p:spPr>
        <p:txBody>
          <a:bodyPr wrap="square" lIns="0" tIns="0" rIns="0" bIns="0" rtlCol="0" anchor="t"/>
          <a:lstStyle/>
          <a:p>
            <a:pPr indent="0" marL="0">
              <a:buNone/>
            </a:pPr>
            <a:r>
              <a:rPr lang="en-US" sz="900" b="1" spc="200" kern="0" dirty="0">
                <a:solidFill>
                  <a:srgbClr val="059669"/>
                </a:solidFill>
                <a:latin typeface="Calibri" pitchFamily="34" charset="0"/>
                <a:ea typeface="Calibri" pitchFamily="34" charset="-122"/>
                <a:cs typeface="Calibri" pitchFamily="34" charset="-120"/>
              </a:rPr>
              <a:t>KEY POINTS</a:t>
            </a:r>
            <a:endParaRPr lang="en-US" sz="900" dirty="0"/>
          </a:p>
        </p:txBody>
      </p:sp>
      <p:sp>
        <p:nvSpPr>
          <p:cNvPr id="12" name="Text 9"/>
          <p:cNvSpPr txBox="1"/>
          <p:nvPr/>
        </p:nvSpPr>
        <p:spPr>
          <a:xfrm>
            <a:off x="457200" y="3611880"/>
            <a:ext cx="4114800" cy="1143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See each prompt, tool call, answer, time and cost</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Great for finding why an answer went wrong</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Also used to test and score your app</a:t>
            </a:r>
            <a:endParaRPr lang="en-US" sz="1250" dirty="0"/>
          </a:p>
          <a:p>
            <a:pPr marL="342900" indent="-342900">
              <a:spcAft>
                <a:spcPts val="400"/>
              </a:spcAft>
              <a:buSzPct val="100000"/>
              <a:buChar char="•"/>
            </a:pPr>
            <a:r>
              <a:rPr lang="en-US" sz="1250" dirty="0">
                <a:solidFill>
                  <a:srgbClr val="0F172A"/>
                </a:solidFill>
                <a:latin typeface="Calibri" pitchFamily="34" charset="0"/>
                <a:ea typeface="Calibri" pitchFamily="34" charset="-122"/>
                <a:cs typeface="Calibri" pitchFamily="34" charset="-120"/>
              </a:rPr>
              <a:t>Turned on with environment settings</a:t>
            </a:r>
            <a:endParaRPr lang="en-US" sz="1250" dirty="0"/>
          </a:p>
        </p:txBody>
      </p:sp>
      <p:sp>
        <p:nvSpPr>
          <p:cNvPr id="13" name="Shape 10"/>
          <p:cNvSpPr/>
          <p:nvPr/>
        </p:nvSpPr>
        <p:spPr>
          <a:xfrm>
            <a:off x="4754880" y="1280160"/>
            <a:ext cx="3931920" cy="2514600"/>
          </a:xfrm>
          <a:prstGeom prst="roundRect">
            <a:avLst>
              <a:gd name="adj" fmla="val 3636"/>
            </a:avLst>
          </a:prstGeom>
          <a:solidFill>
            <a:srgbClr val="0F172A"/>
          </a:solidFill>
          <a:ln/>
        </p:spPr>
      </p:sp>
      <p:sp>
        <p:nvSpPr>
          <p:cNvPr id="14" name="Text 11"/>
          <p:cNvSpPr txBox="1"/>
          <p:nvPr/>
        </p:nvSpPr>
        <p:spPr>
          <a:xfrm>
            <a:off x="4937760" y="1399032"/>
            <a:ext cx="3566160" cy="201168"/>
          </a:xfrm>
          <a:prstGeom prst="rect">
            <a:avLst/>
          </a:prstGeom>
          <a:noFill/>
          <a:ln/>
        </p:spPr>
        <p:txBody>
          <a:bodyPr wrap="square" lIns="0" tIns="0" rIns="0" bIns="0" rtlCol="0" anchor="t"/>
          <a:lstStyle/>
          <a:p>
            <a:pPr indent="0" marL="0">
              <a:buNone/>
            </a:pPr>
            <a:r>
              <a:rPr lang="en-US" sz="900" b="1" spc="200" kern="0" dirty="0">
                <a:solidFill>
                  <a:srgbClr val="34D399"/>
                </a:solidFill>
                <a:latin typeface="Calibri" pitchFamily="34" charset="0"/>
                <a:ea typeface="Calibri" pitchFamily="34" charset="-122"/>
                <a:cs typeface="Calibri" pitchFamily="34" charset="-120"/>
              </a:rPr>
              <a:t>IN CODE</a:t>
            </a:r>
            <a:endParaRPr lang="en-US" sz="900" dirty="0"/>
          </a:p>
        </p:txBody>
      </p:sp>
      <p:sp>
        <p:nvSpPr>
          <p:cNvPr id="15" name="Text 12"/>
          <p:cNvSpPr txBox="1"/>
          <p:nvPr/>
        </p:nvSpPr>
        <p:spPr>
          <a:xfrm>
            <a:off x="4937760" y="1664208"/>
            <a:ext cx="3657600" cy="2057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 put these in your .env file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LANGSMITH_TRACING=true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LANGSMITH_API_KEY=your_key</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That is all. From now on, every run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is recorded: prompts, tool calls,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answers, time and cost.</a:t>
            </a:r>
            <a:endParaRPr lang="en-US" sz="1100" dirty="0"/>
          </a:p>
        </p:txBody>
      </p:sp>
      <p:sp>
        <p:nvSpPr>
          <p:cNvPr id="16" name="Shape 13"/>
          <p:cNvSpPr/>
          <p:nvPr/>
        </p:nvSpPr>
        <p:spPr>
          <a:xfrm>
            <a:off x="4754880" y="3931920"/>
            <a:ext cx="3931920" cy="822960"/>
          </a:xfrm>
          <a:prstGeom prst="roundRect">
            <a:avLst>
              <a:gd name="adj" fmla="val 11111"/>
            </a:avLst>
          </a:prstGeom>
          <a:solidFill>
            <a:srgbClr val="D1FAE5"/>
          </a:solidFill>
          <a:ln w="6350">
            <a:solidFill>
              <a:srgbClr val="D1FAE5"/>
            </a:solidFill>
            <a:prstDash val="solid"/>
          </a:ln>
        </p:spPr>
      </p:sp>
      <p:sp>
        <p:nvSpPr>
          <p:cNvPr id="17" name="Text 14"/>
          <p:cNvSpPr txBox="1"/>
          <p:nvPr/>
        </p:nvSpPr>
        <p:spPr>
          <a:xfrm>
            <a:off x="4937760" y="3931920"/>
            <a:ext cx="3611880" cy="82296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Use it when  </a:t>
            </a:r>
            <a:pPr indent="0" marL="0">
              <a:buNone/>
            </a:pPr>
            <a:r>
              <a:rPr lang="en-US" sz="1200" dirty="0">
                <a:solidFill>
                  <a:srgbClr val="0F172A"/>
                </a:solidFill>
                <a:latin typeface="Calibri" pitchFamily="34" charset="0"/>
                <a:ea typeface="Calibri" pitchFamily="34" charset="-122"/>
                <a:cs typeface="Calibri" pitchFamily="34" charset="-120"/>
              </a:rPr>
              <a:t>you debug, test or monitor an AI app, especially agents.</a:t>
            </a:r>
            <a:endParaRPr lang="en-US" sz="12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GOOD TO KNOW</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Old way vs new way</a:t>
            </a:r>
            <a:endParaRPr lang="en-US" sz="3200" dirty="0"/>
          </a:p>
        </p:txBody>
      </p:sp>
      <p:sp>
        <p:nvSpPr>
          <p:cNvPr id="4" name="Shape 2"/>
          <p:cNvSpPr/>
          <p:nvPr/>
        </p:nvSpPr>
        <p:spPr>
          <a:xfrm>
            <a:off x="457200" y="1280160"/>
            <a:ext cx="4023360" cy="2743200"/>
          </a:xfrm>
          <a:prstGeom prst="roundRect">
            <a:avLst>
              <a:gd name="adj" fmla="val 3333"/>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85800" y="1417320"/>
            <a:ext cx="3657600" cy="36576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Old tutorials show</a:t>
            </a:r>
            <a:endParaRPr lang="en-US" sz="1800" dirty="0"/>
          </a:p>
        </p:txBody>
      </p:sp>
      <p:sp>
        <p:nvSpPr>
          <p:cNvPr id="6" name="Text 4"/>
          <p:cNvSpPr txBox="1"/>
          <p:nvPr/>
        </p:nvSpPr>
        <p:spPr>
          <a:xfrm>
            <a:off x="685800" y="1920240"/>
            <a:ext cx="3657600" cy="1371600"/>
          </a:xfrm>
          <a:prstGeom prst="rect">
            <a:avLst/>
          </a:prstGeom>
          <a:noFill/>
          <a:ln/>
        </p:spPr>
        <p:txBody>
          <a:bodyPr wrap="square" lIns="0" tIns="0" rIns="0" bIns="0" rtlCol="0" anchor="t"/>
          <a:lstStyle/>
          <a:p>
            <a:pPr indent="0" marL="0">
              <a:spcAft>
                <a:spcPts val="800"/>
              </a:spcAft>
              <a:buNone/>
            </a:pPr>
            <a:r>
              <a:rPr lang="en-US" sz="1200" b="1" dirty="0">
                <a:solidFill>
                  <a:srgbClr val="475569"/>
                </a:solidFill>
                <a:latin typeface="Courier New" pitchFamily="34" charset="0"/>
                <a:ea typeface="Courier New" pitchFamily="34" charset="-122"/>
                <a:cs typeface="Courier New" pitchFamily="34" charset="-120"/>
              </a:rPr>
              <a:t>LLMChain</a:t>
            </a:r>
            <a:endParaRPr lang="en-US" sz="1400" dirty="0"/>
          </a:p>
          <a:p>
            <a:pPr indent="0" marL="0">
              <a:spcAft>
                <a:spcPts val="800"/>
              </a:spcAft>
              <a:buNone/>
            </a:pPr>
            <a:r>
              <a:rPr lang="en-US" sz="1200" b="1" dirty="0">
                <a:solidFill>
                  <a:srgbClr val="475569"/>
                </a:solidFill>
                <a:latin typeface="Courier New" pitchFamily="34" charset="0"/>
                <a:ea typeface="Courier New" pitchFamily="34" charset="-122"/>
                <a:cs typeface="Courier New" pitchFamily="34" charset="-120"/>
              </a:rPr>
              <a:t>ConversationBufferMemory</a:t>
            </a:r>
            <a:endParaRPr lang="en-US" sz="1400" dirty="0"/>
          </a:p>
          <a:p>
            <a:pPr indent="0" marL="0">
              <a:spcAft>
                <a:spcPts val="800"/>
              </a:spcAft>
              <a:buNone/>
            </a:pPr>
            <a:r>
              <a:rPr lang="en-US" sz="1200" b="1" dirty="0">
                <a:solidFill>
                  <a:srgbClr val="475569"/>
                </a:solidFill>
                <a:latin typeface="Courier New" pitchFamily="34" charset="0"/>
                <a:ea typeface="Courier New" pitchFamily="34" charset="-122"/>
                <a:cs typeface="Courier New" pitchFamily="34" charset="-120"/>
              </a:rPr>
              <a:t>initialize_agent / AgentExecutor</a:t>
            </a:r>
            <a:endParaRPr lang="en-US" sz="1400" dirty="0"/>
          </a:p>
          <a:p>
            <a:pPr indent="0" marL="0">
              <a:spcAft>
                <a:spcPts val="800"/>
              </a:spcAft>
              <a:buNone/>
            </a:pPr>
            <a:r>
              <a:rPr lang="en-US" sz="1200" b="1" dirty="0">
                <a:solidFill>
                  <a:srgbClr val="475569"/>
                </a:solidFill>
                <a:latin typeface="Courier New" pitchFamily="34" charset="0"/>
                <a:ea typeface="Courier New" pitchFamily="34" charset="-122"/>
                <a:cs typeface="Courier New" pitchFamily="34" charset="-120"/>
              </a:rPr>
              <a:t>from langchain.chains import ...</a:t>
            </a:r>
            <a:endParaRPr lang="en-US" sz="1400" dirty="0"/>
          </a:p>
        </p:txBody>
      </p:sp>
      <p:sp>
        <p:nvSpPr>
          <p:cNvPr id="7" name="Text 5"/>
          <p:cNvSpPr txBox="1"/>
          <p:nvPr/>
        </p:nvSpPr>
        <p:spPr>
          <a:xfrm>
            <a:off x="685800" y="3337560"/>
            <a:ext cx="3657600" cy="59436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Still available in langchain-classic, but not recommended for new code.</a:t>
            </a:r>
            <a:endParaRPr lang="en-US" sz="1200" dirty="0"/>
          </a:p>
        </p:txBody>
      </p:sp>
      <p:sp>
        <p:nvSpPr>
          <p:cNvPr id="8" name="Shape 6"/>
          <p:cNvSpPr/>
          <p:nvPr/>
        </p:nvSpPr>
        <p:spPr>
          <a:xfrm>
            <a:off x="4663440" y="1280160"/>
            <a:ext cx="4023360" cy="2743200"/>
          </a:xfrm>
          <a:prstGeom prst="roundRect">
            <a:avLst>
              <a:gd name="adj" fmla="val 3333"/>
            </a:avLst>
          </a:prstGeom>
          <a:solidFill>
            <a:srgbClr val="0A1A1F"/>
          </a:solidFill>
          <a:ln w="9525">
            <a:solidFill>
              <a:srgbClr val="0A1A1F"/>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4892040" y="1417320"/>
            <a:ext cx="3657600" cy="365760"/>
          </a:xfrm>
          <a:prstGeom prst="rect">
            <a:avLst/>
          </a:prstGeom>
          <a:noFill/>
          <a:ln/>
        </p:spPr>
        <p:txBody>
          <a:bodyPr wrap="square" lIns="0" tIns="0" rIns="0" bIns="0" rtlCol="0" anchor="t"/>
          <a:lstStyle/>
          <a:p>
            <a:pPr indent="0" marL="0">
              <a:buNone/>
            </a:pPr>
            <a:r>
              <a:rPr lang="en-US" sz="1800" b="1" dirty="0">
                <a:solidFill>
                  <a:srgbClr val="34D399"/>
                </a:solidFill>
                <a:latin typeface="Cambria" pitchFamily="34" charset="0"/>
                <a:ea typeface="Cambria" pitchFamily="34" charset="-122"/>
                <a:cs typeface="Cambria" pitchFamily="34" charset="-120"/>
              </a:rPr>
              <a:t>Use today</a:t>
            </a:r>
            <a:endParaRPr lang="en-US" sz="1800" dirty="0"/>
          </a:p>
        </p:txBody>
      </p:sp>
      <p:sp>
        <p:nvSpPr>
          <p:cNvPr id="10" name="Text 8"/>
          <p:cNvSpPr txBox="1"/>
          <p:nvPr/>
        </p:nvSpPr>
        <p:spPr>
          <a:xfrm>
            <a:off x="4892040" y="1920240"/>
            <a:ext cx="3657600" cy="1371600"/>
          </a:xfrm>
          <a:prstGeom prst="rect">
            <a:avLst/>
          </a:prstGeom>
          <a:noFill/>
          <a:ln/>
        </p:spPr>
        <p:txBody>
          <a:bodyPr wrap="square" lIns="0" tIns="0" rIns="0" bIns="0" rtlCol="0" anchor="t"/>
          <a:lstStyle/>
          <a:p>
            <a:pPr indent="0" marL="0">
              <a:spcAft>
                <a:spcPts val="800"/>
              </a:spcAft>
              <a:buNone/>
            </a:pPr>
            <a:r>
              <a:rPr lang="en-US" sz="1200" b="1" dirty="0">
                <a:solidFill>
                  <a:srgbClr val="E2E8F0"/>
                </a:solidFill>
                <a:latin typeface="Courier New" pitchFamily="34" charset="0"/>
                <a:ea typeface="Courier New" pitchFamily="34" charset="-122"/>
                <a:cs typeface="Courier New" pitchFamily="34" charset="-120"/>
              </a:rPr>
              <a:t>prompt | llm | parser</a:t>
            </a:r>
            <a:endParaRPr lang="en-US" sz="1400" dirty="0"/>
          </a:p>
          <a:p>
            <a:pPr indent="0" marL="0">
              <a:spcAft>
                <a:spcPts val="800"/>
              </a:spcAft>
              <a:buNone/>
            </a:pPr>
            <a:r>
              <a:rPr lang="en-US" sz="1200" b="1" dirty="0">
                <a:solidFill>
                  <a:srgbClr val="E2E8F0"/>
                </a:solidFill>
                <a:latin typeface="Courier New" pitchFamily="34" charset="0"/>
                <a:ea typeface="Courier New" pitchFamily="34" charset="-122"/>
                <a:cs typeface="Courier New" pitchFamily="34" charset="-120"/>
              </a:rPr>
              <a:t>Checkpointer (memory)</a:t>
            </a:r>
            <a:endParaRPr lang="en-US" sz="1400" dirty="0"/>
          </a:p>
          <a:p>
            <a:pPr indent="0" marL="0">
              <a:spcAft>
                <a:spcPts val="800"/>
              </a:spcAft>
              <a:buNone/>
            </a:pPr>
            <a:r>
              <a:rPr lang="en-US" sz="1200" b="1" dirty="0">
                <a:solidFill>
                  <a:srgbClr val="E2E8F0"/>
                </a:solidFill>
                <a:latin typeface="Courier New" pitchFamily="34" charset="0"/>
                <a:ea typeface="Courier New" pitchFamily="34" charset="-122"/>
                <a:cs typeface="Courier New" pitchFamily="34" charset="-120"/>
              </a:rPr>
              <a:t>create_agent(...)</a:t>
            </a:r>
            <a:endParaRPr lang="en-US" sz="1400" dirty="0"/>
          </a:p>
          <a:p>
            <a:pPr indent="0" marL="0">
              <a:spcAft>
                <a:spcPts val="800"/>
              </a:spcAft>
              <a:buNone/>
            </a:pPr>
            <a:r>
              <a:rPr lang="en-US" sz="1200" b="1" dirty="0">
                <a:solidFill>
                  <a:srgbClr val="E2E8F0"/>
                </a:solidFill>
                <a:latin typeface="Courier New" pitchFamily="34" charset="0"/>
                <a:ea typeface="Courier New" pitchFamily="34" charset="-122"/>
                <a:cs typeface="Courier New" pitchFamily="34" charset="-120"/>
              </a:rPr>
              <a:t>init_chat_model(...)</a:t>
            </a:r>
            <a:endParaRPr lang="en-US" sz="1400" dirty="0"/>
          </a:p>
        </p:txBody>
      </p:sp>
      <p:sp>
        <p:nvSpPr>
          <p:cNvPr id="11" name="Text 9"/>
          <p:cNvSpPr txBox="1"/>
          <p:nvPr/>
        </p:nvSpPr>
        <p:spPr>
          <a:xfrm>
            <a:off x="4892040" y="3337560"/>
            <a:ext cx="3657600" cy="594360"/>
          </a:xfrm>
          <a:prstGeom prst="rect">
            <a:avLst/>
          </a:prstGeom>
          <a:noFill/>
          <a:ln/>
        </p:spPr>
        <p:txBody>
          <a:bodyPr wrap="square" lIns="0" tIns="0" rIns="0" bIns="0" rtlCol="0" anchor="t"/>
          <a:lstStyle/>
          <a:p>
            <a:pPr indent="0" marL="0">
              <a:buNone/>
            </a:pPr>
            <a:r>
              <a:rPr lang="en-US" sz="1200" i="1" dirty="0">
                <a:solidFill>
                  <a:srgbClr val="CBD5E1"/>
                </a:solidFill>
                <a:latin typeface="Calibri" pitchFamily="34" charset="0"/>
                <a:ea typeface="Calibri" pitchFamily="34" charset="-122"/>
                <a:cs typeface="Calibri" pitchFamily="34" charset="-120"/>
              </a:rPr>
              <a:t>Simpler, more flexible and built on LangGraph.</a:t>
            </a:r>
            <a:endParaRPr lang="en-US" sz="1200" dirty="0"/>
          </a:p>
        </p:txBody>
      </p:sp>
      <p:sp>
        <p:nvSpPr>
          <p:cNvPr id="12" name="Shape 10"/>
          <p:cNvSpPr/>
          <p:nvPr/>
        </p:nvSpPr>
        <p:spPr>
          <a:xfrm>
            <a:off x="457200" y="4206240"/>
            <a:ext cx="8229600" cy="502920"/>
          </a:xfrm>
          <a:prstGeom prst="roundRect">
            <a:avLst>
              <a:gd name="adj" fmla="val 18182"/>
            </a:avLst>
          </a:prstGeom>
          <a:solidFill>
            <a:srgbClr val="FEF3C7"/>
          </a:solidFill>
          <a:ln/>
        </p:spPr>
      </p:sp>
      <p:sp>
        <p:nvSpPr>
          <p:cNvPr id="13" name="Text 11"/>
          <p:cNvSpPr txBox="1"/>
          <p:nvPr/>
        </p:nvSpPr>
        <p:spPr>
          <a:xfrm>
            <a:off x="685800" y="4206240"/>
            <a:ext cx="7772400" cy="502920"/>
          </a:xfrm>
          <a:prstGeom prst="rect">
            <a:avLst/>
          </a:prstGeom>
          <a:noFill/>
          <a:ln/>
        </p:spPr>
        <p:txBody>
          <a:bodyPr wrap="square" lIns="0" tIns="0" rIns="0" bIns="0" rtlCol="0" anchor="ctr"/>
          <a:lstStyle/>
          <a:p>
            <a:pPr indent="0" marL="0">
              <a:buNone/>
            </a:pPr>
            <a:r>
              <a:rPr lang="en-US" sz="1300" b="1" dirty="0">
                <a:solidFill>
                  <a:srgbClr val="78350F"/>
                </a:solidFill>
                <a:latin typeface="Calibri" pitchFamily="34" charset="0"/>
                <a:ea typeface="Calibri" pitchFamily="34" charset="-122"/>
                <a:cs typeface="Calibri" pitchFamily="34" charset="-120"/>
              </a:rPr>
              <a:t>Tip:  </a:t>
            </a:r>
            <a:pPr indent="0" marL="0">
              <a:buNone/>
            </a:pPr>
            <a:r>
              <a:rPr lang="en-US" sz="1300" dirty="0">
                <a:solidFill>
                  <a:srgbClr val="78350F"/>
                </a:solidFill>
                <a:latin typeface="Calibri" pitchFamily="34" charset="0"/>
                <a:ea typeface="Calibri" pitchFamily="34" charset="-122"/>
                <a:cs typeface="Calibri" pitchFamily="34" charset="-120"/>
              </a:rPr>
              <a:t>LangChain changes fast. If an import fails, check the date of the tutorial and the official docs.</a:t>
            </a:r>
            <a:endParaRPr lang="en-US" sz="13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CHEAT SHEET</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Which component for what?</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291840"/>
                <a:gridCol w="4937760"/>
              </a:tblGrid>
              <a:tr h="35204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 want to...</a:t>
                      </a:r>
                      <a:endParaRPr lang="en-US" sz="120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1A1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a:t>
                      </a:r>
                      <a:endParaRPr lang="en-US" sz="120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A1A1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Talk to an AI model</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Chat model (init_chat_model)</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Reuse a prompt with blanks</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ChatPromptTemplate</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Get clean JSON or an object</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with_structured_output</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Connect steps together</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The pipe |  (LCEL)</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Remember the conversation</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Checkpointer + thread_id</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Let the AI read my documents</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Loader &gt; Splitter &gt; Embeddings &gt; Store &gt; Retriever</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Let the AI do things</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@tool + create_agent</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Control every step</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LangGraph</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2044">
                <a:tc>
                  <a:txBody>
                    <a:bodyPr/>
                    <a:lstStyle/>
                    <a:p>
                      <a:pPr indent="0" marL="0">
                        <a:buNone/>
                      </a:pPr>
                      <a:r>
                        <a:rPr lang="en-US" sz="1150" dirty="0">
                          <a:solidFill>
                            <a:srgbClr val="0F172A"/>
                          </a:solidFill>
                          <a:latin typeface="Calibri" pitchFamily="34" charset="0"/>
                          <a:ea typeface="Calibri" pitchFamily="34" charset="-122"/>
                          <a:cs typeface="Calibri" pitchFamily="34" charset="-120"/>
                        </a:rPr>
                        <a:t>See what happened</a:t>
                      </a:r>
                      <a:endParaRPr lang="en-US" sz="1150" dirty="0">
                        <a:latin typeface="Calibri" charset="0"/>
                        <a:ea typeface="Calibri" charset="0"/>
                        <a:cs typeface="Calibri"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47857"/>
                          </a:solidFill>
                          <a:latin typeface="Courier New" pitchFamily="34" charset="0"/>
                          <a:ea typeface="Courier New" pitchFamily="34" charset="-122"/>
                          <a:cs typeface="Courier New" pitchFamily="34" charset="-120"/>
                        </a:rPr>
                        <a:t>LangSmith</a:t>
                      </a:r>
                      <a:endParaRPr lang="en-US" sz="1100" dirty="0">
                        <a:latin typeface="Courier New" charset="0"/>
                        <a:ea typeface="Courier New" charset="0"/>
                        <a:cs typeface="Courier New" charset="0"/>
                      </a:endParaRPr>
                    </a:p>
                  </a:txBody>
                  <a:tcPr marL="109728" marR="10972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059669"/>
                </a:solidFill>
                <a:latin typeface="Calibri" pitchFamily="34" charset="0"/>
                <a:ea typeface="Calibri" pitchFamily="34" charset="-122"/>
                <a:cs typeface="Calibri" pitchFamily="34" charset="-120"/>
              </a:rPr>
              <a:t>GOOD TO KNOW</a:t>
            </a:r>
            <a:endParaRPr lang="en-US" sz="1100" dirty="0"/>
          </a:p>
        </p:txBody>
      </p:sp>
      <p:sp>
        <p:nvSpPr>
          <p:cNvPr id="3" name="Text 1"/>
          <p:cNvSpPr txBox="1"/>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Tips for beginners</a:t>
            </a:r>
            <a:endParaRPr lang="en-US" sz="3200" dirty="0"/>
          </a:p>
        </p:txBody>
      </p:sp>
      <p:sp>
        <p:nvSpPr>
          <p:cNvPr id="4" name="Shape 2"/>
          <p:cNvSpPr/>
          <p:nvPr/>
        </p:nvSpPr>
        <p:spPr>
          <a:xfrm>
            <a:off x="457200" y="1325880"/>
            <a:ext cx="402336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581912"/>
            <a:ext cx="502920" cy="502920"/>
          </a:xfrm>
          <a:prstGeom prst="ellipse">
            <a:avLst/>
          </a:prstGeom>
          <a:solidFill>
            <a:srgbClr val="047857"/>
          </a:solidFill>
          <a:ln w="6350">
            <a:solidFill>
              <a:srgbClr val="047857"/>
            </a:solidFill>
            <a:prstDash val="solid"/>
          </a:ln>
        </p:spPr>
      </p:sp>
      <p:pic>
        <p:nvPicPr>
          <p:cNvPr id="6" name="Image 0" descr="preencoded.png">    </p:cNvPr>
          <p:cNvPicPr>
            <a:picLocks noChangeAspect="1"/>
          </p:cNvPicPr>
          <p:nvPr/>
        </p:nvPicPr>
        <p:blipFill>
          <a:blip r:embed="rId1"/>
          <a:stretch>
            <a:fillRect/>
          </a:stretch>
        </p:blipFill>
        <p:spPr>
          <a:xfrm>
            <a:off x="765810" y="1707642"/>
            <a:ext cx="251460" cy="251460"/>
          </a:xfrm>
          <a:prstGeom prst="rect">
            <a:avLst/>
          </a:prstGeom>
        </p:spPr>
      </p:pic>
      <p:sp>
        <p:nvSpPr>
          <p:cNvPr id="7" name="Text 4"/>
          <p:cNvSpPr txBox="1"/>
          <p:nvPr/>
        </p:nvSpPr>
        <p:spPr>
          <a:xfrm>
            <a:off x="1325880" y="1508760"/>
            <a:ext cx="3063240" cy="68580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Start small</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One model, one prompt, one chain. Add pieces step by step.</a:t>
            </a:r>
            <a:endParaRPr lang="en-US" sz="1400" dirty="0"/>
          </a:p>
        </p:txBody>
      </p:sp>
      <p:sp>
        <p:nvSpPr>
          <p:cNvPr id="8" name="Shape 5"/>
          <p:cNvSpPr/>
          <p:nvPr/>
        </p:nvSpPr>
        <p:spPr>
          <a:xfrm>
            <a:off x="4663440" y="1325880"/>
            <a:ext cx="402336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4846320" y="1581912"/>
            <a:ext cx="502920" cy="502920"/>
          </a:xfrm>
          <a:prstGeom prst="ellipse">
            <a:avLst/>
          </a:prstGeom>
          <a:solidFill>
            <a:srgbClr val="047857"/>
          </a:solidFill>
          <a:ln w="6350">
            <a:solidFill>
              <a:srgbClr val="047857"/>
            </a:solidFill>
            <a:prstDash val="solid"/>
          </a:ln>
        </p:spPr>
      </p:sp>
      <p:pic>
        <p:nvPicPr>
          <p:cNvPr id="10" name="Image 1" descr="preencoded.png">    </p:cNvPr>
          <p:cNvPicPr>
            <a:picLocks noChangeAspect="1"/>
          </p:cNvPicPr>
          <p:nvPr/>
        </p:nvPicPr>
        <p:blipFill>
          <a:blip r:embed="rId2"/>
          <a:stretch>
            <a:fillRect/>
          </a:stretch>
        </p:blipFill>
        <p:spPr>
          <a:xfrm>
            <a:off x="4972050" y="1707642"/>
            <a:ext cx="251460" cy="251460"/>
          </a:xfrm>
          <a:prstGeom prst="rect">
            <a:avLst/>
          </a:prstGeom>
        </p:spPr>
      </p:pic>
      <p:sp>
        <p:nvSpPr>
          <p:cNvPr id="11" name="Text 7"/>
          <p:cNvSpPr txBox="1"/>
          <p:nvPr/>
        </p:nvSpPr>
        <p:spPr>
          <a:xfrm>
            <a:off x="5532120" y="1508760"/>
            <a:ext cx="3063240" cy="68580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Write clear prompts</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Say the role, the task and the format you want.</a:t>
            </a:r>
            <a:endParaRPr lang="en-US" sz="1400" dirty="0"/>
          </a:p>
        </p:txBody>
      </p:sp>
      <p:sp>
        <p:nvSpPr>
          <p:cNvPr id="12" name="Shape 8"/>
          <p:cNvSpPr/>
          <p:nvPr/>
        </p:nvSpPr>
        <p:spPr>
          <a:xfrm>
            <a:off x="457200" y="2468880"/>
            <a:ext cx="402336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640080" y="2724912"/>
            <a:ext cx="502920" cy="502920"/>
          </a:xfrm>
          <a:prstGeom prst="ellipse">
            <a:avLst/>
          </a:prstGeom>
          <a:solidFill>
            <a:srgbClr val="047857"/>
          </a:solidFill>
          <a:ln w="6350">
            <a:solidFill>
              <a:srgbClr val="047857"/>
            </a:solidFill>
            <a:prstDash val="solid"/>
          </a:ln>
        </p:spPr>
      </p:sp>
      <p:pic>
        <p:nvPicPr>
          <p:cNvPr id="14" name="Image 2" descr="preencoded.png">    </p:cNvPr>
          <p:cNvPicPr>
            <a:picLocks noChangeAspect="1"/>
          </p:cNvPicPr>
          <p:nvPr/>
        </p:nvPicPr>
        <p:blipFill>
          <a:blip r:embed="rId3"/>
          <a:stretch>
            <a:fillRect/>
          </a:stretch>
        </p:blipFill>
        <p:spPr>
          <a:xfrm>
            <a:off x="765810" y="2850642"/>
            <a:ext cx="251460" cy="251460"/>
          </a:xfrm>
          <a:prstGeom prst="rect">
            <a:avLst/>
          </a:prstGeom>
        </p:spPr>
      </p:pic>
      <p:sp>
        <p:nvSpPr>
          <p:cNvPr id="15" name="Text 10"/>
          <p:cNvSpPr txBox="1"/>
          <p:nvPr/>
        </p:nvSpPr>
        <p:spPr>
          <a:xfrm>
            <a:off x="1325880" y="2651760"/>
            <a:ext cx="3063240" cy="68580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Describe tools well</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The AI chooses tools by reading their descriptions.</a:t>
            </a:r>
            <a:endParaRPr lang="en-US" sz="1400" dirty="0"/>
          </a:p>
        </p:txBody>
      </p:sp>
      <p:sp>
        <p:nvSpPr>
          <p:cNvPr id="16" name="Shape 11"/>
          <p:cNvSpPr/>
          <p:nvPr/>
        </p:nvSpPr>
        <p:spPr>
          <a:xfrm>
            <a:off x="4663440" y="2468880"/>
            <a:ext cx="402336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4846320" y="2724912"/>
            <a:ext cx="502920" cy="502920"/>
          </a:xfrm>
          <a:prstGeom prst="ellipse">
            <a:avLst/>
          </a:prstGeom>
          <a:solidFill>
            <a:srgbClr val="047857"/>
          </a:solidFill>
          <a:ln w="6350">
            <a:solidFill>
              <a:srgbClr val="047857"/>
            </a:solidFill>
            <a:prstDash val="solid"/>
          </a:ln>
        </p:spPr>
      </p:sp>
      <p:pic>
        <p:nvPicPr>
          <p:cNvPr id="18" name="Image 3" descr="preencoded.png">    </p:cNvPr>
          <p:cNvPicPr>
            <a:picLocks noChangeAspect="1"/>
          </p:cNvPicPr>
          <p:nvPr/>
        </p:nvPicPr>
        <p:blipFill>
          <a:blip r:embed="rId4"/>
          <a:stretch>
            <a:fillRect/>
          </a:stretch>
        </p:blipFill>
        <p:spPr>
          <a:xfrm>
            <a:off x="4972050" y="2850642"/>
            <a:ext cx="251460" cy="251460"/>
          </a:xfrm>
          <a:prstGeom prst="rect">
            <a:avLst/>
          </a:prstGeom>
        </p:spPr>
      </p:pic>
      <p:sp>
        <p:nvSpPr>
          <p:cNvPr id="19" name="Text 13"/>
          <p:cNvSpPr txBox="1"/>
          <p:nvPr/>
        </p:nvSpPr>
        <p:spPr>
          <a:xfrm>
            <a:off x="5532120" y="2651760"/>
            <a:ext cx="3063240" cy="68580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Keep keys safe</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Put API keys in a .env file and never share them.</a:t>
            </a:r>
            <a:endParaRPr lang="en-US" sz="1400" dirty="0"/>
          </a:p>
        </p:txBody>
      </p:sp>
      <p:sp>
        <p:nvSpPr>
          <p:cNvPr id="20" name="Shape 14"/>
          <p:cNvSpPr/>
          <p:nvPr/>
        </p:nvSpPr>
        <p:spPr>
          <a:xfrm>
            <a:off x="457200" y="3611880"/>
            <a:ext cx="402336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1" name="Shape 15"/>
          <p:cNvSpPr/>
          <p:nvPr/>
        </p:nvSpPr>
        <p:spPr>
          <a:xfrm>
            <a:off x="640080" y="3867912"/>
            <a:ext cx="502920" cy="502920"/>
          </a:xfrm>
          <a:prstGeom prst="ellipse">
            <a:avLst/>
          </a:prstGeom>
          <a:solidFill>
            <a:srgbClr val="047857"/>
          </a:solidFill>
          <a:ln w="6350">
            <a:solidFill>
              <a:srgbClr val="047857"/>
            </a:solidFill>
            <a:prstDash val="solid"/>
          </a:ln>
        </p:spPr>
      </p:sp>
      <p:pic>
        <p:nvPicPr>
          <p:cNvPr id="22" name="Image 4" descr="preencoded.png">    </p:cNvPr>
          <p:cNvPicPr>
            <a:picLocks noChangeAspect="1"/>
          </p:cNvPicPr>
          <p:nvPr/>
        </p:nvPicPr>
        <p:blipFill>
          <a:blip r:embed="rId5"/>
          <a:stretch>
            <a:fillRect/>
          </a:stretch>
        </p:blipFill>
        <p:spPr>
          <a:xfrm>
            <a:off x="765810" y="3993642"/>
            <a:ext cx="251460" cy="251460"/>
          </a:xfrm>
          <a:prstGeom prst="rect">
            <a:avLst/>
          </a:prstGeom>
        </p:spPr>
      </p:pic>
      <p:sp>
        <p:nvSpPr>
          <p:cNvPr id="23" name="Text 16"/>
          <p:cNvSpPr txBox="1"/>
          <p:nvPr/>
        </p:nvSpPr>
        <p:spPr>
          <a:xfrm>
            <a:off x="1325880" y="3794760"/>
            <a:ext cx="3063240" cy="68580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Limit agent steps</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Set a maximum so agents cannot loop forever.</a:t>
            </a:r>
            <a:endParaRPr lang="en-US" sz="1400" dirty="0"/>
          </a:p>
        </p:txBody>
      </p:sp>
      <p:sp>
        <p:nvSpPr>
          <p:cNvPr id="24" name="Shape 17"/>
          <p:cNvSpPr/>
          <p:nvPr/>
        </p:nvSpPr>
        <p:spPr>
          <a:xfrm>
            <a:off x="4663440" y="3611880"/>
            <a:ext cx="4023360" cy="1005840"/>
          </a:xfrm>
          <a:prstGeom prst="roundRect">
            <a:avLst>
              <a:gd name="adj" fmla="val 9091"/>
            </a:avLst>
          </a:prstGeom>
          <a:solidFill>
            <a:srgbClr val="FFFFFF"/>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25" name="Shape 18"/>
          <p:cNvSpPr/>
          <p:nvPr/>
        </p:nvSpPr>
        <p:spPr>
          <a:xfrm>
            <a:off x="4846320" y="3867912"/>
            <a:ext cx="502920" cy="502920"/>
          </a:xfrm>
          <a:prstGeom prst="ellipse">
            <a:avLst/>
          </a:prstGeom>
          <a:solidFill>
            <a:srgbClr val="047857"/>
          </a:solidFill>
          <a:ln w="6350">
            <a:solidFill>
              <a:srgbClr val="047857"/>
            </a:solidFill>
            <a:prstDash val="solid"/>
          </a:ln>
        </p:spPr>
      </p:sp>
      <p:pic>
        <p:nvPicPr>
          <p:cNvPr id="26" name="Image 5" descr="preencoded.png">    </p:cNvPr>
          <p:cNvPicPr>
            <a:picLocks noChangeAspect="1"/>
          </p:cNvPicPr>
          <p:nvPr/>
        </p:nvPicPr>
        <p:blipFill>
          <a:blip r:embed="rId6"/>
          <a:stretch>
            <a:fillRect/>
          </a:stretch>
        </p:blipFill>
        <p:spPr>
          <a:xfrm>
            <a:off x="4972050" y="3993642"/>
            <a:ext cx="251460" cy="251460"/>
          </a:xfrm>
          <a:prstGeom prst="rect">
            <a:avLst/>
          </a:prstGeom>
        </p:spPr>
      </p:pic>
      <p:sp>
        <p:nvSpPr>
          <p:cNvPr id="27" name="Text 19"/>
          <p:cNvSpPr txBox="1"/>
          <p:nvPr/>
        </p:nvSpPr>
        <p:spPr>
          <a:xfrm>
            <a:off x="5532120" y="3794760"/>
            <a:ext cx="3063240" cy="68580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Trace your runs</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Use LangSmith to see what really happened.</a:t>
            </a:r>
            <a:endParaRPr lang="en-US" sz="1400" dirty="0"/>
          </a:p>
        </p:txBody>
      </p:sp>
      <p:sp>
        <p:nvSpPr>
          <p:cNvPr id="25" name="Slide Number Placeholder 0"/>
          <p:cNvSpPr>
            <a:spLocks noGrp="1"/>
          </p:cNvSpPr>
          <p:nvPr>
            <p:ph type="sldNum" sz="quarter" idx="4294967295"/>
          </p:nvPr>
        </p:nvSpPr>
        <p:spPr>
          <a:xfrm>
            <a:off x="832104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A1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274320"/>
          </a:xfrm>
          <a:prstGeom prst="rect">
            <a:avLst/>
          </a:prstGeom>
          <a:noFill/>
          <a:ln/>
        </p:spPr>
        <p:txBody>
          <a:bodyPr wrap="square" lIns="0" tIns="0" rIns="0" bIns="0" rtlCol="0" anchor="t"/>
          <a:lstStyle/>
          <a:p>
            <a:pPr indent="0" marL="0">
              <a:buNone/>
            </a:pPr>
            <a:r>
              <a:rPr lang="en-US" sz="1200" b="1" spc="300" kern="0" dirty="0">
                <a:solidFill>
                  <a:srgbClr val="34D399"/>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640080" y="731520"/>
            <a:ext cx="7772400" cy="6400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LangChain in one page</a:t>
            </a:r>
            <a:endParaRPr lang="en-US" sz="3400" dirty="0"/>
          </a:p>
        </p:txBody>
      </p:sp>
      <p:sp>
        <p:nvSpPr>
          <p:cNvPr id="4" name="Text 2"/>
          <p:cNvSpPr txBox="1"/>
          <p:nvPr/>
        </p:nvSpPr>
        <p:spPr>
          <a:xfrm>
            <a:off x="640080" y="1600200"/>
            <a:ext cx="548640" cy="640080"/>
          </a:xfrm>
          <a:prstGeom prst="rect">
            <a:avLst/>
          </a:prstGeom>
          <a:noFill/>
          <a:ln/>
        </p:spPr>
        <p:txBody>
          <a:bodyPr wrap="square" lIns="0" tIns="0" rIns="0" bIns="0" rtlCol="0" anchor="ctr"/>
          <a:lstStyle/>
          <a:p>
            <a:pPr indent="0" marL="0">
              <a:buNone/>
            </a:pPr>
            <a:r>
              <a:rPr lang="en-US" sz="3600" b="1" dirty="0">
                <a:solidFill>
                  <a:srgbClr val="34D399"/>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1371600" y="1618488"/>
            <a:ext cx="722376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Blocks you snap together.</a:t>
            </a:r>
            <a:endParaRPr lang="en-US" sz="1400" dirty="0"/>
          </a:p>
          <a:p>
            <a:pPr indent="0" marL="0">
              <a:buNone/>
            </a:pPr>
            <a:r>
              <a:rPr lang="en-US" sz="1300" dirty="0">
                <a:solidFill>
                  <a:srgbClr val="CBD5E1"/>
                </a:solidFill>
                <a:latin typeface="Calibri" pitchFamily="34" charset="0"/>
                <a:ea typeface="Calibri" pitchFamily="34" charset="-122"/>
                <a:cs typeface="Calibri" pitchFamily="34" charset="-120"/>
              </a:rPr>
              <a:t>Model, messages, prompt, parser, chain, memory.</a:t>
            </a:r>
            <a:endParaRPr lang="en-US" sz="1400" dirty="0"/>
          </a:p>
        </p:txBody>
      </p:sp>
      <p:sp>
        <p:nvSpPr>
          <p:cNvPr id="6" name="Text 4"/>
          <p:cNvSpPr txBox="1"/>
          <p:nvPr/>
        </p:nvSpPr>
        <p:spPr>
          <a:xfrm>
            <a:off x="640080" y="2377440"/>
            <a:ext cx="548640" cy="640080"/>
          </a:xfrm>
          <a:prstGeom prst="rect">
            <a:avLst/>
          </a:prstGeom>
          <a:noFill/>
          <a:ln/>
        </p:spPr>
        <p:txBody>
          <a:bodyPr wrap="square" lIns="0" tIns="0" rIns="0" bIns="0" rtlCol="0" anchor="ctr"/>
          <a:lstStyle/>
          <a:p>
            <a:pPr indent="0" marL="0">
              <a:buNone/>
            </a:pPr>
            <a:r>
              <a:rPr lang="en-US" sz="3600" b="1" dirty="0">
                <a:solidFill>
                  <a:srgbClr val="34D399"/>
                </a:solidFill>
                <a:latin typeface="Cambria" pitchFamily="34" charset="0"/>
                <a:ea typeface="Cambria" pitchFamily="34" charset="-122"/>
                <a:cs typeface="Cambria" pitchFamily="34" charset="-120"/>
              </a:rPr>
              <a:t>2</a:t>
            </a:r>
            <a:endParaRPr lang="en-US" sz="3600" dirty="0"/>
          </a:p>
        </p:txBody>
      </p:sp>
      <p:sp>
        <p:nvSpPr>
          <p:cNvPr id="7" name="Text 5"/>
          <p:cNvSpPr txBox="1"/>
          <p:nvPr/>
        </p:nvSpPr>
        <p:spPr>
          <a:xfrm>
            <a:off x="1371600" y="2395728"/>
            <a:ext cx="722376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Your data: load, split, embed, store, retrieve.</a:t>
            </a:r>
            <a:endParaRPr lang="en-US" sz="1400" dirty="0"/>
          </a:p>
          <a:p>
            <a:pPr indent="0" marL="0">
              <a:buNone/>
            </a:pPr>
            <a:r>
              <a:rPr lang="en-US" sz="1300" dirty="0">
                <a:solidFill>
                  <a:srgbClr val="CBD5E1"/>
                </a:solidFill>
                <a:latin typeface="Calibri" pitchFamily="34" charset="0"/>
                <a:ea typeface="Calibri" pitchFamily="34" charset="-122"/>
                <a:cs typeface="Calibri" pitchFamily="34" charset="-120"/>
              </a:rPr>
              <a:t>That is RAG, and it grounds the AI in real facts.</a:t>
            </a:r>
            <a:endParaRPr lang="en-US" sz="1400" dirty="0"/>
          </a:p>
        </p:txBody>
      </p:sp>
      <p:sp>
        <p:nvSpPr>
          <p:cNvPr id="8" name="Text 6"/>
          <p:cNvSpPr txBox="1"/>
          <p:nvPr/>
        </p:nvSpPr>
        <p:spPr>
          <a:xfrm>
            <a:off x="640080" y="3154680"/>
            <a:ext cx="548640" cy="640080"/>
          </a:xfrm>
          <a:prstGeom prst="rect">
            <a:avLst/>
          </a:prstGeom>
          <a:noFill/>
          <a:ln/>
        </p:spPr>
        <p:txBody>
          <a:bodyPr wrap="square" lIns="0" tIns="0" rIns="0" bIns="0" rtlCol="0" anchor="ctr"/>
          <a:lstStyle/>
          <a:p>
            <a:pPr indent="0" marL="0">
              <a:buNone/>
            </a:pPr>
            <a:r>
              <a:rPr lang="en-US" sz="3600" b="1" dirty="0">
                <a:solidFill>
                  <a:srgbClr val="34D399"/>
                </a:solidFill>
                <a:latin typeface="Cambria" pitchFamily="34" charset="0"/>
                <a:ea typeface="Cambria" pitchFamily="34" charset="-122"/>
                <a:cs typeface="Cambria" pitchFamily="34" charset="-120"/>
              </a:rPr>
              <a:t>3</a:t>
            </a:r>
            <a:endParaRPr lang="en-US" sz="3600" dirty="0"/>
          </a:p>
        </p:txBody>
      </p:sp>
      <p:sp>
        <p:nvSpPr>
          <p:cNvPr id="9" name="Text 7"/>
          <p:cNvSpPr txBox="1"/>
          <p:nvPr/>
        </p:nvSpPr>
        <p:spPr>
          <a:xfrm>
            <a:off x="1371600" y="3172968"/>
            <a:ext cx="722376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Tools + a loop = an agent.</a:t>
            </a:r>
            <a:endParaRPr lang="en-US" sz="1400" dirty="0"/>
          </a:p>
          <a:p>
            <a:pPr indent="0" marL="0">
              <a:buNone/>
            </a:pPr>
            <a:r>
              <a:rPr lang="en-US" sz="1300" dirty="0">
                <a:solidFill>
                  <a:srgbClr val="CBD5E1"/>
                </a:solidFill>
                <a:latin typeface="Calibri" pitchFamily="34" charset="0"/>
                <a:ea typeface="Calibri" pitchFamily="34" charset="-122"/>
                <a:cs typeface="Calibri" pitchFamily="34" charset="-120"/>
              </a:rPr>
              <a:t>create_agent for simple, LangGraph for full control.</a:t>
            </a:r>
            <a:endParaRPr lang="en-US" sz="1400" dirty="0"/>
          </a:p>
        </p:txBody>
      </p:sp>
      <p:sp>
        <p:nvSpPr>
          <p:cNvPr id="10" name="Text 8"/>
          <p:cNvSpPr txBox="1"/>
          <p:nvPr/>
        </p:nvSpPr>
        <p:spPr>
          <a:xfrm>
            <a:off x="640080" y="3931920"/>
            <a:ext cx="548640" cy="640080"/>
          </a:xfrm>
          <a:prstGeom prst="rect">
            <a:avLst/>
          </a:prstGeom>
          <a:noFill/>
          <a:ln/>
        </p:spPr>
        <p:txBody>
          <a:bodyPr wrap="square" lIns="0" tIns="0" rIns="0" bIns="0" rtlCol="0" anchor="ctr"/>
          <a:lstStyle/>
          <a:p>
            <a:pPr indent="0" marL="0">
              <a:buNone/>
            </a:pPr>
            <a:r>
              <a:rPr lang="en-US" sz="3600" b="1" dirty="0">
                <a:solidFill>
                  <a:srgbClr val="34D399"/>
                </a:solidFill>
                <a:latin typeface="Cambria" pitchFamily="34" charset="0"/>
                <a:ea typeface="Cambria" pitchFamily="34" charset="-122"/>
                <a:cs typeface="Cambria" pitchFamily="34" charset="-120"/>
              </a:rPr>
              <a:t>4</a:t>
            </a:r>
            <a:endParaRPr lang="en-US" sz="3600" dirty="0"/>
          </a:p>
        </p:txBody>
      </p:sp>
      <p:sp>
        <p:nvSpPr>
          <p:cNvPr id="11" name="Text 9"/>
          <p:cNvSpPr txBox="1"/>
          <p:nvPr/>
        </p:nvSpPr>
        <p:spPr>
          <a:xfrm>
            <a:off x="1371600" y="3950208"/>
            <a:ext cx="722376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MCP adds tools, LangSmith adds visibility.</a:t>
            </a:r>
            <a:endParaRPr lang="en-US" sz="1400" dirty="0"/>
          </a:p>
          <a:p>
            <a:pPr indent="0" marL="0">
              <a:buNone/>
            </a:pPr>
            <a:r>
              <a:rPr lang="en-US" sz="1300" dirty="0">
                <a:solidFill>
                  <a:srgbClr val="CBD5E1"/>
                </a:solidFill>
                <a:latin typeface="Calibri" pitchFamily="34" charset="0"/>
                <a:ea typeface="Calibri" pitchFamily="34" charset="-122"/>
                <a:cs typeface="Calibri" pitchFamily="34" charset="-120"/>
              </a:rPr>
              <a:t>Start small and grow one block at a time.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LangChain: Link the Blocks, Build Your AI App</dc:title>
  <dc:subject>PptxGenJS Presentation</dc:subject>
  <dc:creator>Workshop</dc:creator>
  <cp:lastModifiedBy>Workshop</cp:lastModifiedBy>
  <cp:revision>1</cp:revision>
  <dcterms:created xsi:type="dcterms:W3CDTF">2026-10-04T01:15:44Z</dcterms:created>
  <dcterms:modified xsi:type="dcterms:W3CDTF">2026-10-04T01:15:44Z</dcterms:modified>
</cp:coreProperties>
</file>